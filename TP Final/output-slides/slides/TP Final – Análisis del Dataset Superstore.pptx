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Lst>
  <p:sldSz cy="6858000" cx="12192000"/>
  <p:notesSz cx="6858000" cy="9144000"/>
  <p:embeddedFontLst>
    <p:embeddedFont>
      <p:font typeface="Play"/>
      <p:regular r:id="rId40"/>
      <p:bold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2" roundtripDataSignature="AMtx7mgqBbywcVm1pSoUpywoAeRF2lXWg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Play-regular.fntdata"/><Relationship Id="rId20" Type="http://schemas.openxmlformats.org/officeDocument/2006/relationships/slide" Target="slides/slide16.xml"/><Relationship Id="rId42" Type="http://customschemas.google.com/relationships/presentationmetadata" Target="metadata"/><Relationship Id="rId41" Type="http://schemas.openxmlformats.org/officeDocument/2006/relationships/font" Target="fonts/Play-bold.fnt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type="tx">
  <p:cSld name="TITLE_AND_BODY">
    <p:spTree>
      <p:nvGrpSpPr>
        <p:cNvPr id="15" name="Shape 15"/>
        <p:cNvGrpSpPr/>
        <p:nvPr/>
      </p:nvGrpSpPr>
      <p:grpSpPr>
        <a:xfrm>
          <a:off x="0" y="0"/>
          <a:ext cx="0" cy="0"/>
          <a:chOff x="0" y="0"/>
          <a:chExt cx="0" cy="0"/>
        </a:xfrm>
      </p:grpSpPr>
      <p:sp>
        <p:nvSpPr>
          <p:cNvPr id="16" name="Google Shape;16;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21" name="Shape 21"/>
        <p:cNvGrpSpPr/>
        <p:nvPr/>
      </p:nvGrpSpPr>
      <p:grpSpPr>
        <a:xfrm>
          <a:off x="0" y="0"/>
          <a:ext cx="0" cy="0"/>
          <a:chOff x="0" y="0"/>
          <a:chExt cx="0" cy="0"/>
        </a:xfrm>
      </p:grpSpPr>
      <p:sp>
        <p:nvSpPr>
          <p:cNvPr id="22" name="Google Shape;22;p3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7" name="Shape 27"/>
        <p:cNvGrpSpPr/>
        <p:nvPr/>
      </p:nvGrpSpPr>
      <p:grpSpPr>
        <a:xfrm>
          <a:off x="0" y="0"/>
          <a:ext cx="0" cy="0"/>
          <a:chOff x="0" y="0"/>
          <a:chExt cx="0" cy="0"/>
        </a:xfrm>
      </p:grpSpPr>
      <p:sp>
        <p:nvSpPr>
          <p:cNvPr id="28" name="Google Shape;28;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3" name="Shape 33"/>
        <p:cNvGrpSpPr/>
        <p:nvPr/>
      </p:nvGrpSpPr>
      <p:grpSpPr>
        <a:xfrm>
          <a:off x="0" y="0"/>
          <a:ext cx="0" cy="0"/>
          <a:chOff x="0" y="0"/>
          <a:chExt cx="0" cy="0"/>
        </a:xfrm>
      </p:grpSpPr>
      <p:sp>
        <p:nvSpPr>
          <p:cNvPr id="34" name="Google Shape;34;p4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6" name="Google Shape;36;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9" name="Shape 39"/>
        <p:cNvGrpSpPr/>
        <p:nvPr/>
      </p:nvGrpSpPr>
      <p:grpSpPr>
        <a:xfrm>
          <a:off x="0" y="0"/>
          <a:ext cx="0" cy="0"/>
          <a:chOff x="0" y="0"/>
          <a:chExt cx="0" cy="0"/>
        </a:xfrm>
      </p:grpSpPr>
      <p:sp>
        <p:nvSpPr>
          <p:cNvPr id="40" name="Google Shape;40;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4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4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6" name="Shape 46"/>
        <p:cNvGrpSpPr/>
        <p:nvPr/>
      </p:nvGrpSpPr>
      <p:grpSpPr>
        <a:xfrm>
          <a:off x="0" y="0"/>
          <a:ext cx="0" cy="0"/>
          <a:chOff x="0" y="0"/>
          <a:chExt cx="0" cy="0"/>
        </a:xfrm>
      </p:grpSpPr>
      <p:sp>
        <p:nvSpPr>
          <p:cNvPr id="47" name="Google Shape;47;p4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4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4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4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4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5" name="Shape 55"/>
        <p:cNvGrpSpPr/>
        <p:nvPr/>
      </p:nvGrpSpPr>
      <p:grpSpPr>
        <a:xfrm>
          <a:off x="0" y="0"/>
          <a:ext cx="0" cy="0"/>
          <a:chOff x="0" y="0"/>
          <a:chExt cx="0" cy="0"/>
        </a:xfrm>
      </p:grpSpPr>
      <p:sp>
        <p:nvSpPr>
          <p:cNvPr id="56" name="Google Shape;56;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60" name="Shape 60"/>
        <p:cNvGrpSpPr/>
        <p:nvPr/>
      </p:nvGrpSpPr>
      <p:grpSpPr>
        <a:xfrm>
          <a:off x="0" y="0"/>
          <a:ext cx="0" cy="0"/>
          <a:chOff x="0" y="0"/>
          <a:chExt cx="0" cy="0"/>
        </a:xfrm>
      </p:grpSpPr>
      <p:sp>
        <p:nvSpPr>
          <p:cNvPr id="61" name="Google Shape;61;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4" name="Shape 64"/>
        <p:cNvGrpSpPr/>
        <p:nvPr/>
      </p:nvGrpSpPr>
      <p:grpSpPr>
        <a:xfrm>
          <a:off x="0" y="0"/>
          <a:ext cx="0" cy="0"/>
          <a:chOff x="0" y="0"/>
          <a:chExt cx="0" cy="0"/>
        </a:xfrm>
      </p:grpSpPr>
      <p:sp>
        <p:nvSpPr>
          <p:cNvPr id="65" name="Google Shape;65;p4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4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7" name="Google Shape;67;p4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8" name="Google Shape;68;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71" name="Shape 71"/>
        <p:cNvGrpSpPr/>
        <p:nvPr/>
      </p:nvGrpSpPr>
      <p:grpSpPr>
        <a:xfrm>
          <a:off x="0" y="0"/>
          <a:ext cx="0" cy="0"/>
          <a:chOff x="0" y="0"/>
          <a:chExt cx="0" cy="0"/>
        </a:xfrm>
      </p:grpSpPr>
      <p:sp>
        <p:nvSpPr>
          <p:cNvPr id="72" name="Google Shape;72;p4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46"/>
          <p:cNvSpPr/>
          <p:nvPr>
            <p:ph idx="2" type="pic"/>
          </p:nvPr>
        </p:nvSpPr>
        <p:spPr>
          <a:xfrm>
            <a:off x="5183188" y="987425"/>
            <a:ext cx="6172200" cy="4873625"/>
          </a:xfrm>
          <a:prstGeom prst="rect">
            <a:avLst/>
          </a:prstGeom>
          <a:noFill/>
          <a:ln>
            <a:noFill/>
          </a:ln>
        </p:spPr>
      </p:sp>
      <p:sp>
        <p:nvSpPr>
          <p:cNvPr id="74" name="Google Shape;74;p4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5" name="Google Shape;75;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8" name="Shape 78"/>
        <p:cNvGrpSpPr/>
        <p:nvPr/>
      </p:nvGrpSpPr>
      <p:grpSpPr>
        <a:xfrm>
          <a:off x="0" y="0"/>
          <a:ext cx="0" cy="0"/>
          <a:chOff x="0" y="0"/>
          <a:chExt cx="0" cy="0"/>
        </a:xfrm>
      </p:grpSpPr>
      <p:sp>
        <p:nvSpPr>
          <p:cNvPr id="79" name="Google Shape;79;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4" name="Shape 84"/>
        <p:cNvGrpSpPr/>
        <p:nvPr/>
      </p:nvGrpSpPr>
      <p:grpSpPr>
        <a:xfrm>
          <a:off x="0" y="0"/>
          <a:ext cx="0" cy="0"/>
          <a:chOff x="0" y="0"/>
          <a:chExt cx="0" cy="0"/>
        </a:xfrm>
      </p:grpSpPr>
      <p:sp>
        <p:nvSpPr>
          <p:cNvPr id="85" name="Google Shape;85;p4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4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0" i="0" lang="es-ES" u="none" strike="noStrike">
                <a:latin typeface="Times New Roman"/>
                <a:ea typeface="Times New Roman"/>
                <a:cs typeface="Times New Roman"/>
                <a:sym typeface="Times New Roman"/>
              </a:rPr>
              <a:t>TP Final – Análisis del Dataset Superstore</a:t>
            </a:r>
            <a:endParaRPr b="0" i="0" u="none" strike="noStrike">
              <a:latin typeface="Times New Roman"/>
              <a:ea typeface="Times New Roman"/>
              <a:cs typeface="Times New Roman"/>
              <a:sym typeface="Times New Roman"/>
            </a:endParaRPr>
          </a:p>
        </p:txBody>
      </p:sp>
      <p:sp>
        <p:nvSpPr>
          <p:cNvPr id="95" name="Google Shape;95;p1"/>
          <p:cNvSpPr txBox="1"/>
          <p:nvPr>
            <p:ph idx="1" type="body"/>
          </p:nvPr>
        </p:nvSpPr>
        <p:spPr>
          <a:xfrm>
            <a:off x="838200" y="1825625"/>
            <a:ext cx="10942500" cy="4535700"/>
          </a:xfrm>
          <a:prstGeom prst="rect">
            <a:avLst/>
          </a:prstGeom>
          <a:noFill/>
          <a:ln>
            <a:noFill/>
          </a:ln>
        </p:spPr>
        <p:txBody>
          <a:bodyPr anchorCtr="0" anchor="t" bIns="45700" lIns="91425" spcFirstLastPara="1" rIns="91425" wrap="square" tIns="45700">
            <a:normAutofit fontScale="70000" lnSpcReduction="10000"/>
          </a:bodyPr>
          <a:lstStyle/>
          <a:p>
            <a:pPr indent="0" lvl="0" marL="0" rtl="0" algn="l">
              <a:lnSpc>
                <a:spcPct val="115000"/>
              </a:lnSpc>
              <a:spcBef>
                <a:spcPts val="0"/>
              </a:spcBef>
              <a:spcAft>
                <a:spcPts val="0"/>
              </a:spcAft>
              <a:buClr>
                <a:schemeClr val="dk1"/>
              </a:buClr>
              <a:buSzPct val="100000"/>
              <a:buNone/>
            </a:pPr>
            <a:r>
              <a:rPr b="1" lang="es-ES"/>
              <a:t>Autores:</a:t>
            </a:r>
            <a:r>
              <a:rPr lang="es-ES"/>
              <a:t> </a:t>
            </a:r>
            <a:r>
              <a:rPr i="1" lang="es-ES"/>
              <a:t>Augusto Suppa y Rodrigo Orozco</a:t>
            </a:r>
            <a:endParaRPr i="1"/>
          </a:p>
          <a:p>
            <a:pPr indent="0" lvl="0" marL="0" rtl="0" algn="l">
              <a:lnSpc>
                <a:spcPct val="115000"/>
              </a:lnSpc>
              <a:spcBef>
                <a:spcPts val="1000"/>
              </a:spcBef>
              <a:spcAft>
                <a:spcPts val="0"/>
              </a:spcAft>
              <a:buClr>
                <a:schemeClr val="dk1"/>
              </a:buClr>
              <a:buSzPct val="100000"/>
              <a:buNone/>
            </a:pPr>
            <a:r>
              <a:rPr b="1" lang="es-ES"/>
              <a:t>Fuente de datos:</a:t>
            </a:r>
            <a:r>
              <a:rPr lang="es-ES"/>
              <a:t> Superstore</a:t>
            </a:r>
            <a:endParaRPr/>
          </a:p>
          <a:p>
            <a:pPr indent="0" lvl="0" marL="0" rtl="0" algn="l">
              <a:lnSpc>
                <a:spcPct val="115000"/>
              </a:lnSpc>
              <a:spcBef>
                <a:spcPts val="1000"/>
              </a:spcBef>
              <a:spcAft>
                <a:spcPts val="0"/>
              </a:spcAft>
              <a:buClr>
                <a:schemeClr val="dk1"/>
              </a:buClr>
              <a:buSzPct val="100000"/>
              <a:buNone/>
            </a:pPr>
            <a:br>
              <a:rPr b="0" lang="es-ES"/>
            </a:br>
            <a:r>
              <a:rPr b="1" lang="es-ES"/>
              <a:t>Introducción</a:t>
            </a:r>
            <a:endParaRPr b="0"/>
          </a:p>
          <a:p>
            <a:pPr indent="0" lvl="0" marL="0" rtl="0" algn="l">
              <a:lnSpc>
                <a:spcPct val="115000"/>
              </a:lnSpc>
              <a:spcBef>
                <a:spcPts val="1000"/>
              </a:spcBef>
              <a:spcAft>
                <a:spcPts val="0"/>
              </a:spcAft>
              <a:buClr>
                <a:schemeClr val="dk1"/>
              </a:buClr>
              <a:buSzPct val="100000"/>
              <a:buNone/>
            </a:pPr>
            <a:r>
              <a:rPr lang="es-ES"/>
              <a:t>El dataset </a:t>
            </a:r>
            <a:r>
              <a:rPr i="1" lang="es-ES"/>
              <a:t>Sample – Superstore</a:t>
            </a:r>
            <a:r>
              <a:rPr lang="es-ES"/>
              <a:t> contiene información real de ventas minoristas en Estados Unidos. En este trabajo se realizó un análisis exploratorio, inferencial y un modelo de regresión múltiple para responder a preguntas clave sobre </a:t>
            </a:r>
            <a:r>
              <a:rPr b="1" lang="es-ES"/>
              <a:t>qué factores explican la rentabilidad (“Profit”)</a:t>
            </a:r>
            <a:r>
              <a:rPr lang="es-ES"/>
              <a:t> y cómo se comportan las ventas según distintos grupos.</a:t>
            </a:r>
            <a:endParaRPr b="0"/>
          </a:p>
          <a:p>
            <a:pPr indent="0" lvl="0" marL="0" rtl="0" algn="l">
              <a:lnSpc>
                <a:spcPct val="115000"/>
              </a:lnSpc>
              <a:spcBef>
                <a:spcPts val="1000"/>
              </a:spcBef>
              <a:spcAft>
                <a:spcPts val="0"/>
              </a:spcAft>
              <a:buClr>
                <a:schemeClr val="dk1"/>
              </a:buClr>
              <a:buSzPct val="100000"/>
              <a:buNone/>
            </a:pPr>
            <a:r>
              <a:rPr lang="es-ES"/>
              <a:t>El objetivo del informe es presentar de manera clara los pasos realizados, los análisis principales y las conclusiones más importantes.</a:t>
            </a:r>
            <a:endParaRPr b="0"/>
          </a:p>
          <a:p>
            <a:pPr indent="0" lvl="0" marL="0" rtl="0" algn="l">
              <a:lnSpc>
                <a:spcPct val="90000"/>
              </a:lnSpc>
              <a:spcBef>
                <a:spcPts val="1000"/>
              </a:spcBef>
              <a:spcAft>
                <a:spcPts val="0"/>
              </a:spcAft>
              <a:buClr>
                <a:schemeClr val="dk1"/>
              </a:buClr>
              <a:buSzPct val="100000"/>
              <a:buNone/>
            </a:pPr>
            <a:br>
              <a:rPr lang="es-ES"/>
            </a:b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595959"/>
              </a:buClr>
              <a:buSzPts val="4400"/>
              <a:buFont typeface="Times New Roman"/>
              <a:buNone/>
            </a:pPr>
            <a:r>
              <a:rPr b="1" lang="es-ES">
                <a:solidFill>
                  <a:srgbClr val="595959"/>
                </a:solidFill>
                <a:latin typeface="Times New Roman"/>
                <a:ea typeface="Times New Roman"/>
                <a:cs typeface="Times New Roman"/>
                <a:sym typeface="Times New Roman"/>
              </a:rPr>
              <a:t>Planteo de hipótesis</a:t>
            </a:r>
            <a:endParaRPr/>
          </a:p>
        </p:txBody>
      </p:sp>
      <p:sp>
        <p:nvSpPr>
          <p:cNvPr id="101" name="Google Shape;10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62500" lnSpcReduction="10000"/>
          </a:bodyPr>
          <a:lstStyle/>
          <a:p>
            <a:pPr indent="0" lvl="0" marL="0" rtl="0" algn="l">
              <a:lnSpc>
                <a:spcPct val="115000"/>
              </a:lnSpc>
              <a:spcBef>
                <a:spcPts val="0"/>
              </a:spcBef>
              <a:spcAft>
                <a:spcPts val="0"/>
              </a:spcAft>
              <a:buClr>
                <a:schemeClr val="dk1"/>
              </a:buClr>
              <a:buSzPct val="100000"/>
              <a:buNone/>
            </a:pPr>
            <a:r>
              <a:rPr lang="es-ES"/>
              <a:t>En este trabajo se busca entender qué factores explican la variación del profit en Superstore. Se plantean dos hipótesis principales:</a:t>
            </a:r>
            <a:endParaRPr/>
          </a:p>
          <a:p>
            <a:pPr indent="0" lvl="0" marL="0" rtl="0" algn="l">
              <a:lnSpc>
                <a:spcPct val="115000"/>
              </a:lnSpc>
              <a:spcBef>
                <a:spcPts val="1000"/>
              </a:spcBef>
              <a:spcAft>
                <a:spcPts val="0"/>
              </a:spcAft>
              <a:buClr>
                <a:schemeClr val="dk1"/>
              </a:buClr>
              <a:buSzPct val="100000"/>
              <a:buNone/>
            </a:pPr>
            <a:r>
              <a:t/>
            </a:r>
            <a:endParaRPr b="0"/>
          </a:p>
          <a:p>
            <a:pPr indent="0" lvl="0" marL="0" rtl="0" algn="l">
              <a:lnSpc>
                <a:spcPct val="115000"/>
              </a:lnSpc>
              <a:spcBef>
                <a:spcPts val="1000"/>
              </a:spcBef>
              <a:spcAft>
                <a:spcPts val="0"/>
              </a:spcAft>
              <a:buClr>
                <a:schemeClr val="dk1"/>
              </a:buClr>
              <a:buSzPct val="100000"/>
              <a:buNone/>
            </a:pPr>
            <a:r>
              <a:rPr b="1" lang="es-ES"/>
              <a:t>H1:</a:t>
            </a:r>
            <a:r>
              <a:rPr lang="es-ES"/>
              <a:t> Los descuentos aplicados reducen significativamente el profit de las transacciones.</a:t>
            </a:r>
            <a:br>
              <a:rPr lang="es-ES"/>
            </a:br>
            <a:r>
              <a:rPr b="1" lang="es-ES"/>
              <a:t>H0:</a:t>
            </a:r>
            <a:r>
              <a:rPr lang="es-ES"/>
              <a:t> No existe un efecto significativo de los descuentos sobre el profit.</a:t>
            </a:r>
            <a:endParaRPr/>
          </a:p>
          <a:p>
            <a:pPr indent="0" lvl="0" marL="0" rtl="0" algn="l">
              <a:lnSpc>
                <a:spcPct val="115000"/>
              </a:lnSpc>
              <a:spcBef>
                <a:spcPts val="1000"/>
              </a:spcBef>
              <a:spcAft>
                <a:spcPts val="0"/>
              </a:spcAft>
              <a:buClr>
                <a:schemeClr val="dk1"/>
              </a:buClr>
              <a:buSzPct val="100000"/>
              <a:buNone/>
            </a:pPr>
            <a:r>
              <a:t/>
            </a:r>
            <a:endParaRPr b="0"/>
          </a:p>
          <a:p>
            <a:pPr indent="0" lvl="0" marL="0" rtl="0" algn="l">
              <a:lnSpc>
                <a:spcPct val="115000"/>
              </a:lnSpc>
              <a:spcBef>
                <a:spcPts val="1000"/>
              </a:spcBef>
              <a:spcAft>
                <a:spcPts val="0"/>
              </a:spcAft>
              <a:buClr>
                <a:schemeClr val="dk1"/>
              </a:buClr>
              <a:buSzPct val="100000"/>
              <a:buNone/>
            </a:pPr>
            <a:r>
              <a:rPr b="1" lang="es-ES"/>
              <a:t>H2:</a:t>
            </a:r>
            <a:r>
              <a:rPr lang="es-ES"/>
              <a:t> Existen diferencias significativas en el profit promedio entre los segmentos de clientes.</a:t>
            </a:r>
            <a:br>
              <a:rPr lang="es-ES"/>
            </a:br>
            <a:r>
              <a:rPr b="1" lang="es-ES"/>
              <a:t>H0:</a:t>
            </a:r>
            <a:r>
              <a:rPr lang="es-ES"/>
              <a:t> El profit promedio no difiere entre segmentos.</a:t>
            </a:r>
            <a:endParaRPr/>
          </a:p>
          <a:p>
            <a:pPr indent="0" lvl="0" marL="0" rtl="0" algn="l">
              <a:lnSpc>
                <a:spcPct val="115000"/>
              </a:lnSpc>
              <a:spcBef>
                <a:spcPts val="1000"/>
              </a:spcBef>
              <a:spcAft>
                <a:spcPts val="0"/>
              </a:spcAft>
              <a:buClr>
                <a:schemeClr val="dk1"/>
              </a:buClr>
              <a:buSzPct val="100000"/>
              <a:buNone/>
            </a:pPr>
            <a:r>
              <a:t/>
            </a:r>
            <a:endParaRPr b="0"/>
          </a:p>
          <a:p>
            <a:pPr indent="0" lvl="0" marL="0" rtl="0" algn="l">
              <a:lnSpc>
                <a:spcPct val="115000"/>
              </a:lnSpc>
              <a:spcBef>
                <a:spcPts val="1000"/>
              </a:spcBef>
              <a:spcAft>
                <a:spcPts val="0"/>
              </a:spcAft>
              <a:buClr>
                <a:schemeClr val="dk1"/>
              </a:buClr>
              <a:buSzPct val="100000"/>
              <a:buNone/>
            </a:pPr>
            <a:r>
              <a:rPr lang="es-ES"/>
              <a:t>Estas hipótesis fueron seleccionadas debido a la relevancia comercial del impacto del descuento y la importancia de comprender si el tipo de cliente influye sobre la rentabilidad.</a:t>
            </a:r>
            <a:endParaRPr b="0"/>
          </a:p>
          <a:p>
            <a:pPr indent="0" lvl="0" marL="0" rtl="0" algn="l">
              <a:lnSpc>
                <a:spcPct val="115000"/>
              </a:lnSpc>
              <a:spcBef>
                <a:spcPts val="1000"/>
              </a:spcBef>
              <a:spcAft>
                <a:spcPts val="0"/>
              </a:spcAft>
              <a:buClr>
                <a:schemeClr val="dk1"/>
              </a:buClr>
              <a:buSzPct val="1000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595959"/>
              </a:buClr>
              <a:buSzPts val="4400"/>
              <a:buFont typeface="Times New Roman"/>
              <a:buNone/>
            </a:pPr>
            <a:r>
              <a:rPr b="1" i="0" lang="es-ES" u="none" strike="noStrike">
                <a:solidFill>
                  <a:srgbClr val="595959"/>
                </a:solidFill>
                <a:latin typeface="Times New Roman"/>
                <a:ea typeface="Times New Roman"/>
                <a:cs typeface="Times New Roman"/>
                <a:sym typeface="Times New Roman"/>
              </a:rPr>
              <a:t>Etapa 1 — Preparación y Limpieza Inicial</a:t>
            </a:r>
            <a:endParaRPr/>
          </a:p>
        </p:txBody>
      </p:sp>
      <p:sp>
        <p:nvSpPr>
          <p:cNvPr id="107" name="Google Shape;107;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487680" lvl="0" marL="514350" marR="0" rtl="0" algn="l">
              <a:lnSpc>
                <a:spcPct val="150000"/>
              </a:lnSpc>
              <a:spcBef>
                <a:spcPts val="0"/>
              </a:spcBef>
              <a:spcAft>
                <a:spcPts val="0"/>
              </a:spcAft>
              <a:buClr>
                <a:srgbClr val="0F4761"/>
              </a:buClr>
              <a:buSzPct val="100000"/>
              <a:buAutoNum type="arabicPeriod"/>
            </a:pPr>
            <a:r>
              <a:rPr b="0" i="0" lang="es-ES" u="none" strike="noStrike">
                <a:solidFill>
                  <a:srgbClr val="0F4761"/>
                </a:solidFill>
                <a:latin typeface="Times New Roman"/>
                <a:ea typeface="Times New Roman"/>
                <a:cs typeface="Times New Roman"/>
                <a:sym typeface="Times New Roman"/>
              </a:rPr>
              <a:t>Estructura del proyecto</a:t>
            </a:r>
            <a:endParaRPr/>
          </a:p>
          <a:p>
            <a:pPr indent="0" lvl="0" marL="0" rtl="0" algn="l">
              <a:lnSpc>
                <a:spcPct val="115000"/>
              </a:lnSpc>
              <a:spcBef>
                <a:spcPts val="1000"/>
              </a:spcBef>
              <a:spcAft>
                <a:spcPts val="0"/>
              </a:spcAft>
              <a:buClr>
                <a:schemeClr val="dk1"/>
              </a:buClr>
              <a:buSzPct val="100000"/>
              <a:buNone/>
            </a:pPr>
            <a:r>
              <a:rPr lang="es-ES"/>
              <a:t>Se organizó el trabajo en carpetas para mantener orden y reproducibilidad:</a:t>
            </a:r>
            <a:endParaRPr b="0"/>
          </a:p>
          <a:p>
            <a:pPr indent="0" lvl="0" marL="0" rtl="0" algn="l">
              <a:lnSpc>
                <a:spcPct val="115000"/>
              </a:lnSpc>
              <a:spcBef>
                <a:spcPts val="1000"/>
              </a:spcBef>
              <a:spcAft>
                <a:spcPts val="0"/>
              </a:spcAft>
              <a:buClr>
                <a:schemeClr val="dk1"/>
              </a:buClr>
              <a:buSzPct val="100000"/>
              <a:buNone/>
            </a:pPr>
            <a:r>
              <a:rPr lang="es-ES"/>
              <a:t>data/raw/                      → dataset original</a:t>
            </a:r>
            <a:endParaRPr b="0"/>
          </a:p>
          <a:p>
            <a:pPr indent="0" lvl="0" marL="0" rtl="0" algn="l">
              <a:lnSpc>
                <a:spcPct val="115000"/>
              </a:lnSpc>
              <a:spcBef>
                <a:spcPts val="1000"/>
              </a:spcBef>
              <a:spcAft>
                <a:spcPts val="0"/>
              </a:spcAft>
              <a:buClr>
                <a:schemeClr val="dk1"/>
              </a:buClr>
              <a:buSzPct val="100000"/>
              <a:buNone/>
            </a:pPr>
            <a:r>
              <a:rPr lang="es-ES"/>
              <a:t>data/clean/                  → dataset limpio y procesado</a:t>
            </a:r>
            <a:endParaRPr b="0"/>
          </a:p>
          <a:p>
            <a:pPr indent="0" lvl="0" marL="0" rtl="0" algn="l">
              <a:lnSpc>
                <a:spcPct val="115000"/>
              </a:lnSpc>
              <a:spcBef>
                <a:spcPts val="1000"/>
              </a:spcBef>
              <a:spcAft>
                <a:spcPts val="0"/>
              </a:spcAft>
              <a:buClr>
                <a:schemeClr val="dk1"/>
              </a:buClr>
              <a:buSzPct val="100000"/>
              <a:buNone/>
            </a:pPr>
            <a:r>
              <a:rPr lang="es-ES"/>
              <a:t>scripts/                          → scripts de R</a:t>
            </a:r>
            <a:endParaRPr b="0"/>
          </a:p>
          <a:p>
            <a:pPr indent="0" lvl="0" marL="0" rtl="0" algn="l">
              <a:lnSpc>
                <a:spcPct val="115000"/>
              </a:lnSpc>
              <a:spcBef>
                <a:spcPts val="1000"/>
              </a:spcBef>
              <a:spcAft>
                <a:spcPts val="0"/>
              </a:spcAft>
              <a:buClr>
                <a:schemeClr val="dk1"/>
              </a:buClr>
              <a:buSzPct val="100000"/>
              <a:buNone/>
            </a:pPr>
            <a:r>
              <a:rPr lang="es-ES"/>
              <a:t>output/figures/           → gráficos generados </a:t>
            </a:r>
            <a:endParaRPr b="0"/>
          </a:p>
          <a:p>
            <a:pPr indent="0" lvl="0" marL="0" rtl="0" algn="l">
              <a:lnSpc>
                <a:spcPct val="115000"/>
              </a:lnSpc>
              <a:spcBef>
                <a:spcPts val="1000"/>
              </a:spcBef>
              <a:spcAft>
                <a:spcPts val="0"/>
              </a:spcAft>
              <a:buClr>
                <a:schemeClr val="dk1"/>
              </a:buClr>
              <a:buSzPct val="100000"/>
              <a:buNone/>
            </a:pPr>
            <a:r>
              <a:rPr lang="es-ES"/>
              <a:t>output/slides/            → presentación final</a:t>
            </a:r>
            <a:endParaRPr b="0"/>
          </a:p>
          <a:p>
            <a:pPr indent="0" lvl="0" marL="0" rtl="0" algn="l">
              <a:lnSpc>
                <a:spcPct val="115000"/>
              </a:lnSpc>
              <a:spcBef>
                <a:spcPts val="1000"/>
              </a:spcBef>
              <a:spcAft>
                <a:spcPts val="0"/>
              </a:spcAft>
              <a:buClr>
                <a:schemeClr val="dk1"/>
              </a:buClr>
              <a:buSzPct val="100000"/>
              <a:buNone/>
            </a:pPr>
            <a:r>
              <a:t/>
            </a:r>
            <a:endParaRPr b="0" i="0" u="none" strike="noStrike">
              <a:solidFill>
                <a:srgbClr val="0F4761"/>
              </a:solidFill>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ct val="100000"/>
              <a:buNone/>
            </a:pPr>
            <a:r>
              <a:t/>
            </a:r>
            <a:endParaRPr b="0" i="0" u="none" strike="noStrike">
              <a:solidFill>
                <a:srgbClr val="0F476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F4761"/>
              </a:buClr>
              <a:buSzPts val="3600"/>
              <a:buFont typeface="Times New Roman"/>
              <a:buNone/>
            </a:pPr>
            <a:r>
              <a:rPr b="0" i="0" lang="es-ES" sz="3600" u="none" strike="noStrike">
                <a:solidFill>
                  <a:srgbClr val="0F4761"/>
                </a:solidFill>
                <a:latin typeface="Times New Roman"/>
                <a:ea typeface="Times New Roman"/>
                <a:cs typeface="Times New Roman"/>
                <a:sym typeface="Times New Roman"/>
              </a:rPr>
              <a:t>2. Carga de datos y tratamiento inicial</a:t>
            </a:r>
            <a:endParaRPr sz="3600"/>
          </a:p>
        </p:txBody>
      </p:sp>
      <p:sp>
        <p:nvSpPr>
          <p:cNvPr id="113" name="Google Shape;11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115000"/>
              </a:lnSpc>
              <a:spcBef>
                <a:spcPts val="0"/>
              </a:spcBef>
              <a:spcAft>
                <a:spcPts val="0"/>
              </a:spcAft>
              <a:buClr>
                <a:schemeClr val="dk1"/>
              </a:buClr>
              <a:buSzPts val="2800"/>
              <a:buChar char="•"/>
            </a:pPr>
            <a:r>
              <a:rPr lang="es-ES"/>
              <a:t>Se importó el dataset original.</a:t>
            </a:r>
            <a:endParaRPr/>
          </a:p>
          <a:p>
            <a:pPr indent="-228600" lvl="0" marL="228600" rtl="0" algn="l">
              <a:lnSpc>
                <a:spcPct val="115000"/>
              </a:lnSpc>
              <a:spcBef>
                <a:spcPts val="1000"/>
              </a:spcBef>
              <a:spcAft>
                <a:spcPts val="0"/>
              </a:spcAft>
              <a:buClr>
                <a:schemeClr val="dk1"/>
              </a:buClr>
              <a:buSzPts val="2800"/>
              <a:buChar char="•"/>
            </a:pPr>
            <a:r>
              <a:rPr lang="es-ES"/>
              <a:t>Se limpiaron los nombres de columnas.</a:t>
            </a:r>
            <a:endParaRPr/>
          </a:p>
          <a:p>
            <a:pPr indent="-228600" lvl="0" marL="228600" rtl="0" algn="l">
              <a:lnSpc>
                <a:spcPct val="115000"/>
              </a:lnSpc>
              <a:spcBef>
                <a:spcPts val="1000"/>
              </a:spcBef>
              <a:spcAft>
                <a:spcPts val="0"/>
              </a:spcAft>
              <a:buClr>
                <a:schemeClr val="dk1"/>
              </a:buClr>
              <a:buSzPts val="2800"/>
              <a:buChar char="•"/>
            </a:pPr>
            <a:r>
              <a:rPr lang="es-ES"/>
              <a:t>Se convirtieron a fecha las variables order_date y ship_date.</a:t>
            </a:r>
            <a:endParaRPr/>
          </a:p>
          <a:p>
            <a:pPr indent="-228600" lvl="0" marL="228600" rtl="0" algn="l">
              <a:lnSpc>
                <a:spcPct val="115000"/>
              </a:lnSpc>
              <a:spcBef>
                <a:spcPts val="1000"/>
              </a:spcBef>
              <a:spcAft>
                <a:spcPts val="0"/>
              </a:spcAft>
              <a:buClr>
                <a:schemeClr val="dk1"/>
              </a:buClr>
              <a:buSzPts val="2800"/>
              <a:buChar char="•"/>
            </a:pPr>
            <a:r>
              <a:rPr lang="es-ES"/>
              <a:t>Se verificó que no hubiera valores faltantes importantes.</a:t>
            </a:r>
            <a:endParaRPr/>
          </a:p>
          <a:p>
            <a:pPr indent="-228600" lvl="0" marL="228600" rtl="0" algn="l">
              <a:lnSpc>
                <a:spcPct val="115000"/>
              </a:lnSpc>
              <a:spcBef>
                <a:spcPts val="1000"/>
              </a:spcBef>
              <a:spcAft>
                <a:spcPts val="0"/>
              </a:spcAft>
              <a:buClr>
                <a:schemeClr val="dk1"/>
              </a:buClr>
              <a:buSzPts val="2800"/>
              <a:buChar char="•"/>
            </a:pPr>
            <a:r>
              <a:rPr lang="es-ES"/>
              <a:t>Se creó el primer dataset limpio:</a:t>
            </a:r>
            <a:br>
              <a:rPr lang="es-ES"/>
            </a:br>
            <a:r>
              <a:rPr b="1" lang="es-ES"/>
              <a:t>data/clean/superstore_clean.csv</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F4761"/>
              </a:buClr>
              <a:buSzPts val="3600"/>
              <a:buFont typeface="Times New Roman"/>
              <a:buNone/>
            </a:pPr>
            <a:r>
              <a:rPr lang="es-ES" sz="3600">
                <a:solidFill>
                  <a:srgbClr val="0F4761"/>
                </a:solidFill>
                <a:latin typeface="Times New Roman"/>
                <a:ea typeface="Times New Roman"/>
                <a:cs typeface="Times New Roman"/>
                <a:sym typeface="Times New Roman"/>
              </a:rPr>
              <a:t>3. Variables derivadas</a:t>
            </a:r>
            <a:endParaRPr/>
          </a:p>
        </p:txBody>
      </p:sp>
      <p:sp>
        <p:nvSpPr>
          <p:cNvPr id="119" name="Google Shape;119;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Clr>
                <a:schemeClr val="dk1"/>
              </a:buClr>
              <a:buSzPts val="2800"/>
              <a:buNone/>
            </a:pPr>
            <a:r>
              <a:rPr lang="es-ES"/>
              <a:t>Para enriquecer el análisis se crearon:</a:t>
            </a:r>
            <a:endParaRPr b="0"/>
          </a:p>
          <a:p>
            <a:pPr indent="-228600" lvl="0" marL="228600" rtl="0" algn="l">
              <a:lnSpc>
                <a:spcPct val="115000"/>
              </a:lnSpc>
              <a:spcBef>
                <a:spcPts val="1000"/>
              </a:spcBef>
              <a:spcAft>
                <a:spcPts val="0"/>
              </a:spcAft>
              <a:buClr>
                <a:schemeClr val="dk1"/>
              </a:buClr>
              <a:buSzPts val="2800"/>
              <a:buChar char="•"/>
            </a:pPr>
            <a:r>
              <a:rPr lang="es-ES"/>
              <a:t>lead_time: días entre pedido y envío.</a:t>
            </a:r>
            <a:endParaRPr/>
          </a:p>
          <a:p>
            <a:pPr indent="-228600" lvl="0" marL="228600" rtl="0" algn="l">
              <a:lnSpc>
                <a:spcPct val="115000"/>
              </a:lnSpc>
              <a:spcBef>
                <a:spcPts val="1000"/>
              </a:spcBef>
              <a:spcAft>
                <a:spcPts val="0"/>
              </a:spcAft>
              <a:buClr>
                <a:schemeClr val="dk1"/>
              </a:buClr>
              <a:buSzPts val="2800"/>
              <a:buChar char="•"/>
            </a:pPr>
            <a:r>
              <a:rPr lang="es-ES"/>
              <a:t>margin_pct: margen sobre ventas.</a:t>
            </a:r>
            <a:endParaRPr/>
          </a:p>
          <a:p>
            <a:pPr indent="-228600" lvl="0" marL="228600" rtl="0" algn="l">
              <a:lnSpc>
                <a:spcPct val="115000"/>
              </a:lnSpc>
              <a:spcBef>
                <a:spcPts val="1000"/>
              </a:spcBef>
              <a:spcAft>
                <a:spcPts val="0"/>
              </a:spcAft>
              <a:buClr>
                <a:schemeClr val="dk1"/>
              </a:buClr>
              <a:buSzPts val="2800"/>
              <a:buChar char="•"/>
            </a:pPr>
            <a:r>
              <a:rPr lang="es-ES"/>
              <a:t>year y month: para estacionalidad.</a:t>
            </a:r>
            <a:endParaRPr/>
          </a:p>
          <a:p>
            <a:pPr indent="0" lvl="0" marL="0" rtl="0" algn="l">
              <a:lnSpc>
                <a:spcPct val="115000"/>
              </a:lnSpc>
              <a:spcBef>
                <a:spcPts val="1000"/>
              </a:spcBef>
              <a:spcAft>
                <a:spcPts val="0"/>
              </a:spcAft>
              <a:buClr>
                <a:schemeClr val="dk1"/>
              </a:buClr>
              <a:buSzPts val="2800"/>
              <a:buNone/>
            </a:pPr>
            <a:r>
              <a:t/>
            </a:r>
            <a:endParaRPr/>
          </a:p>
          <a:p>
            <a:pPr indent="0" lvl="0" marL="0" rtl="0" algn="l">
              <a:lnSpc>
                <a:spcPct val="115000"/>
              </a:lnSpc>
              <a:spcBef>
                <a:spcPts val="1000"/>
              </a:spcBef>
              <a:spcAft>
                <a:spcPts val="0"/>
              </a:spcAft>
              <a:buClr>
                <a:schemeClr val="dk1"/>
              </a:buClr>
              <a:buSzPts val="2800"/>
              <a:buNone/>
            </a:pPr>
            <a:r>
              <a:rPr lang="es-ES"/>
              <a:t>La etapa 1 deja listo el dataset para comenzar el análisis exploratorio.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595959"/>
              </a:buClr>
              <a:buSzPts val="4400"/>
              <a:buFont typeface="Times New Roman"/>
              <a:buNone/>
            </a:pPr>
            <a:r>
              <a:rPr b="1" i="0" lang="es-ES" u="none" strike="noStrike">
                <a:solidFill>
                  <a:srgbClr val="595959"/>
                </a:solidFill>
                <a:latin typeface="Times New Roman"/>
                <a:ea typeface="Times New Roman"/>
                <a:cs typeface="Times New Roman"/>
                <a:sym typeface="Times New Roman"/>
              </a:rPr>
              <a:t>Etapa 2 — EDA </a:t>
            </a:r>
            <a:endParaRPr/>
          </a:p>
        </p:txBody>
      </p:sp>
      <p:sp>
        <p:nvSpPr>
          <p:cNvPr id="125" name="Google Shape;125;p6"/>
          <p:cNvSpPr txBox="1"/>
          <p:nvPr>
            <p:ph idx="1" type="body"/>
          </p:nvPr>
        </p:nvSpPr>
        <p:spPr>
          <a:xfrm>
            <a:off x="838200" y="1825625"/>
            <a:ext cx="3724800" cy="4351200"/>
          </a:xfrm>
          <a:prstGeom prst="rect">
            <a:avLst/>
          </a:prstGeom>
          <a:noFill/>
          <a:ln>
            <a:noFill/>
          </a:ln>
        </p:spPr>
        <p:txBody>
          <a:bodyPr anchorCtr="0" anchor="t" bIns="45700" lIns="91425" spcFirstLastPara="1" rIns="91425" wrap="square" tIns="45700">
            <a:normAutofit fontScale="62500" lnSpcReduction="10000"/>
          </a:bodyPr>
          <a:lstStyle/>
          <a:p>
            <a:pPr indent="-461010" lvl="0" marL="514350" marR="0" rtl="0" algn="l">
              <a:lnSpc>
                <a:spcPct val="90000"/>
              </a:lnSpc>
              <a:spcBef>
                <a:spcPts val="0"/>
              </a:spcBef>
              <a:spcAft>
                <a:spcPts val="0"/>
              </a:spcAft>
              <a:buClr>
                <a:srgbClr val="0F4761"/>
              </a:buClr>
              <a:buSzPct val="100000"/>
              <a:buAutoNum type="arabicPeriod"/>
            </a:pPr>
            <a:r>
              <a:rPr b="0" i="0" lang="es-ES" u="none" strike="noStrike">
                <a:solidFill>
                  <a:srgbClr val="0F4761"/>
                </a:solidFill>
                <a:latin typeface="Times New Roman"/>
                <a:ea typeface="Times New Roman"/>
                <a:cs typeface="Times New Roman"/>
                <a:sym typeface="Times New Roman"/>
              </a:rPr>
              <a:t>Análisis univariado</a:t>
            </a:r>
            <a:endParaRPr b="0" i="0" u="none" strike="noStrike">
              <a:solidFill>
                <a:srgbClr val="0F4761"/>
              </a:solidFill>
              <a:latin typeface="Times New Roman"/>
              <a:ea typeface="Times New Roman"/>
              <a:cs typeface="Times New Roman"/>
              <a:sym typeface="Times New Roman"/>
            </a:endParaRPr>
          </a:p>
          <a:p>
            <a:pPr indent="0" lvl="0" marL="0" rtl="0" algn="l">
              <a:lnSpc>
                <a:spcPct val="115000"/>
              </a:lnSpc>
              <a:spcBef>
                <a:spcPts val="1000"/>
              </a:spcBef>
              <a:spcAft>
                <a:spcPts val="0"/>
              </a:spcAft>
              <a:buClr>
                <a:schemeClr val="dk1"/>
              </a:buClr>
              <a:buSzPct val="100000"/>
              <a:buNone/>
            </a:pPr>
            <a:r>
              <a:rPr lang="es-ES"/>
              <a:t>Se exploraron las distribuciones de:</a:t>
            </a:r>
            <a:endParaRPr b="0"/>
          </a:p>
          <a:p>
            <a:pPr indent="-175260" lvl="0" marL="228600" rtl="0" algn="l">
              <a:lnSpc>
                <a:spcPct val="115000"/>
              </a:lnSpc>
              <a:spcBef>
                <a:spcPts val="1000"/>
              </a:spcBef>
              <a:spcAft>
                <a:spcPts val="0"/>
              </a:spcAft>
              <a:buClr>
                <a:schemeClr val="dk1"/>
              </a:buClr>
              <a:buSzPct val="100000"/>
              <a:buChar char="•"/>
            </a:pPr>
            <a:r>
              <a:rPr lang="es-ES"/>
              <a:t>sales</a:t>
            </a:r>
            <a:endParaRPr/>
          </a:p>
          <a:p>
            <a:pPr indent="-175260" lvl="0" marL="228600" rtl="0" algn="l">
              <a:lnSpc>
                <a:spcPct val="115000"/>
              </a:lnSpc>
              <a:spcBef>
                <a:spcPts val="1000"/>
              </a:spcBef>
              <a:spcAft>
                <a:spcPts val="0"/>
              </a:spcAft>
              <a:buClr>
                <a:schemeClr val="dk1"/>
              </a:buClr>
              <a:buSzPct val="100000"/>
              <a:buChar char="•"/>
            </a:pPr>
            <a:r>
              <a:rPr lang="es-ES"/>
              <a:t>profit</a:t>
            </a:r>
            <a:endParaRPr/>
          </a:p>
          <a:p>
            <a:pPr indent="-175260" lvl="0" marL="228600" rtl="0" algn="l">
              <a:lnSpc>
                <a:spcPct val="115000"/>
              </a:lnSpc>
              <a:spcBef>
                <a:spcPts val="1000"/>
              </a:spcBef>
              <a:spcAft>
                <a:spcPts val="0"/>
              </a:spcAft>
              <a:buClr>
                <a:schemeClr val="dk1"/>
              </a:buClr>
              <a:buSzPct val="100000"/>
              <a:buChar char="•"/>
            </a:pPr>
            <a:r>
              <a:rPr lang="es-ES"/>
              <a:t>discount</a:t>
            </a:r>
            <a:endParaRPr/>
          </a:p>
          <a:p>
            <a:pPr indent="-175260" lvl="0" marL="228600" rtl="0" algn="l">
              <a:lnSpc>
                <a:spcPct val="115000"/>
              </a:lnSpc>
              <a:spcBef>
                <a:spcPts val="1000"/>
              </a:spcBef>
              <a:spcAft>
                <a:spcPts val="0"/>
              </a:spcAft>
              <a:buClr>
                <a:schemeClr val="dk1"/>
              </a:buClr>
              <a:buSzPct val="100000"/>
              <a:buChar char="•"/>
            </a:pPr>
            <a:r>
              <a:rPr lang="es-ES"/>
              <a:t>quantity</a:t>
            </a:r>
            <a:endParaRPr/>
          </a:p>
          <a:p>
            <a:pPr indent="-175260" lvl="0" marL="228600" rtl="0" algn="l">
              <a:lnSpc>
                <a:spcPct val="115000"/>
              </a:lnSpc>
              <a:spcBef>
                <a:spcPts val="1000"/>
              </a:spcBef>
              <a:spcAft>
                <a:spcPts val="0"/>
              </a:spcAft>
              <a:buClr>
                <a:schemeClr val="dk1"/>
              </a:buClr>
              <a:buSzPct val="100000"/>
              <a:buChar char="•"/>
            </a:pPr>
            <a:r>
              <a:rPr lang="es-ES"/>
              <a:t>lead_time</a:t>
            </a:r>
            <a:endParaRPr/>
          </a:p>
          <a:p>
            <a:pPr indent="0" lvl="0" marL="0" rtl="0" algn="l">
              <a:lnSpc>
                <a:spcPct val="115000"/>
              </a:lnSpc>
              <a:spcBef>
                <a:spcPts val="1000"/>
              </a:spcBef>
              <a:spcAft>
                <a:spcPts val="0"/>
              </a:spcAft>
              <a:buClr>
                <a:schemeClr val="dk1"/>
              </a:buClr>
              <a:buSzPct val="100000"/>
              <a:buNone/>
            </a:pPr>
            <a:r>
              <a:rPr lang="es-ES"/>
              <a:t>Mediante histogramas y boxplots.</a:t>
            </a:r>
            <a:endParaRPr b="0"/>
          </a:p>
          <a:p>
            <a:pPr indent="0" lvl="0" marL="0" rtl="0" algn="l">
              <a:lnSpc>
                <a:spcPct val="90000"/>
              </a:lnSpc>
              <a:spcBef>
                <a:spcPts val="1000"/>
              </a:spcBef>
              <a:spcAft>
                <a:spcPts val="0"/>
              </a:spcAft>
              <a:buClr>
                <a:schemeClr val="dk1"/>
              </a:buClr>
              <a:buSzPct val="100000"/>
              <a:buNone/>
            </a:pPr>
            <a:r>
              <a:t/>
            </a:r>
            <a:endParaRPr>
              <a:solidFill>
                <a:srgbClr val="0F4761"/>
              </a:solidFill>
              <a:latin typeface="Times New Roman"/>
              <a:ea typeface="Times New Roman"/>
              <a:cs typeface="Times New Roman"/>
              <a:sym typeface="Times New Roman"/>
            </a:endParaRPr>
          </a:p>
          <a:p>
            <a:pPr indent="0" lvl="0" marL="0" marR="0" rtl="0" algn="l">
              <a:lnSpc>
                <a:spcPct val="90000"/>
              </a:lnSpc>
              <a:spcBef>
                <a:spcPts val="1000"/>
              </a:spcBef>
              <a:spcAft>
                <a:spcPts val="0"/>
              </a:spcAft>
              <a:buClr>
                <a:schemeClr val="dk1"/>
              </a:buClr>
              <a:buSzPct val="100000"/>
              <a:buNone/>
            </a:pPr>
            <a:r>
              <a:t/>
            </a:r>
            <a:endParaRPr b="0" i="0" u="none" strike="noStrike">
              <a:solidFill>
                <a:srgbClr val="0F4761"/>
              </a:solidFill>
              <a:latin typeface="Times New Roman"/>
              <a:ea typeface="Times New Roman"/>
              <a:cs typeface="Times New Roman"/>
              <a:sym typeface="Times New Roman"/>
            </a:endParaRPr>
          </a:p>
          <a:p>
            <a:pPr indent="0" lvl="0" marL="0" marR="0" rtl="0" algn="l">
              <a:lnSpc>
                <a:spcPct val="90000"/>
              </a:lnSpc>
              <a:spcBef>
                <a:spcPts val="1000"/>
              </a:spcBef>
              <a:spcAft>
                <a:spcPts val="0"/>
              </a:spcAft>
              <a:buClr>
                <a:schemeClr val="dk1"/>
              </a:buClr>
              <a:buSzPct val="100000"/>
              <a:buNone/>
            </a:pPr>
            <a:r>
              <a:t/>
            </a:r>
            <a:endParaRPr b="0" i="0" u="none" strike="noStrike">
              <a:solidFill>
                <a:srgbClr val="0F4761"/>
              </a:solidFill>
              <a:latin typeface="Times New Roman"/>
              <a:ea typeface="Times New Roman"/>
              <a:cs typeface="Times New Roman"/>
              <a:sym typeface="Times New Roman"/>
            </a:endParaRPr>
          </a:p>
        </p:txBody>
      </p:sp>
      <p:pic>
        <p:nvPicPr>
          <p:cNvPr id="126" name="Google Shape;126;p6"/>
          <p:cNvPicPr preferRelativeResize="0"/>
          <p:nvPr/>
        </p:nvPicPr>
        <p:blipFill rotWithShape="1">
          <a:blip r:embed="rId3">
            <a:alphaModFix/>
          </a:blip>
          <a:srcRect b="0" l="0" r="0" t="0"/>
          <a:stretch/>
        </p:blipFill>
        <p:spPr>
          <a:xfrm>
            <a:off x="4584148" y="2598998"/>
            <a:ext cx="7134472" cy="2997130"/>
          </a:xfrm>
          <a:prstGeom prst="rect">
            <a:avLst/>
          </a:prstGeom>
          <a:noFill/>
          <a:ln>
            <a:noFill/>
          </a:ln>
        </p:spPr>
      </p:pic>
      <p:sp>
        <p:nvSpPr>
          <p:cNvPr id="127" name="Google Shape;127;p6"/>
          <p:cNvSpPr txBox="1"/>
          <p:nvPr/>
        </p:nvSpPr>
        <p:spPr>
          <a:xfrm>
            <a:off x="5461261" y="2044815"/>
            <a:ext cx="52560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1800" u="none" cap="small" strike="noStrike">
                <a:solidFill>
                  <a:schemeClr val="dk1"/>
                </a:solidFill>
                <a:latin typeface="Arial"/>
                <a:ea typeface="Arial"/>
                <a:cs typeface="Arial"/>
                <a:sym typeface="Arial"/>
              </a:rPr>
              <a:t>Estadísticas descriptivas de las variables principales</a:t>
            </a:r>
            <a:endParaRPr sz="180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200"/>
              <a:buFont typeface="Play"/>
              <a:buNone/>
            </a:pPr>
            <a:r>
              <a:rPr lang="es-ES" sz="3200" cap="small"/>
              <a:t>Interpretación de las estadísticas descriptivas</a:t>
            </a:r>
            <a:endParaRPr/>
          </a:p>
        </p:txBody>
      </p:sp>
      <p:sp>
        <p:nvSpPr>
          <p:cNvPr id="133" name="Google Shape;133;p7"/>
          <p:cNvSpPr txBox="1"/>
          <p:nvPr>
            <p:ph idx="1" type="body"/>
          </p:nvPr>
        </p:nvSpPr>
        <p:spPr>
          <a:xfrm>
            <a:off x="838200" y="1499616"/>
            <a:ext cx="10515600" cy="4791456"/>
          </a:xfrm>
          <a:prstGeom prst="rect">
            <a:avLst/>
          </a:prstGeom>
          <a:noFill/>
          <a:ln>
            <a:noFill/>
          </a:ln>
        </p:spPr>
        <p:txBody>
          <a:bodyPr anchorCtr="0" anchor="t" bIns="45700" lIns="91425" spcFirstLastPara="1" rIns="91425" wrap="square" tIns="45700">
            <a:normAutofit fontScale="77500" lnSpcReduction="20000"/>
          </a:bodyPr>
          <a:lstStyle/>
          <a:p>
            <a:pPr indent="-201930" lvl="0" marL="228600" rtl="0" algn="l">
              <a:lnSpc>
                <a:spcPct val="115000"/>
              </a:lnSpc>
              <a:spcBef>
                <a:spcPts val="0"/>
              </a:spcBef>
              <a:spcAft>
                <a:spcPts val="0"/>
              </a:spcAft>
              <a:buClr>
                <a:schemeClr val="dk1"/>
              </a:buClr>
              <a:buSzPct val="100000"/>
              <a:buChar char="•"/>
            </a:pPr>
            <a:r>
              <a:rPr i="1" lang="es-ES"/>
              <a:t>Sales</a:t>
            </a:r>
            <a:r>
              <a:rPr lang="es-ES"/>
              <a:t> presenta alta dispersión (SD = 624), lo cual confirma la presencia de transacciones de muy distinto tamaño.</a:t>
            </a:r>
            <a:endParaRPr/>
          </a:p>
          <a:p>
            <a:pPr indent="-201930" lvl="0" marL="228600" rtl="0" algn="l">
              <a:lnSpc>
                <a:spcPct val="115000"/>
              </a:lnSpc>
              <a:spcBef>
                <a:spcPts val="1000"/>
              </a:spcBef>
              <a:spcAft>
                <a:spcPts val="0"/>
              </a:spcAft>
              <a:buClr>
                <a:schemeClr val="dk1"/>
              </a:buClr>
              <a:buSzPct val="100000"/>
              <a:buChar char="•"/>
            </a:pPr>
            <a:r>
              <a:rPr i="1" lang="es-ES"/>
              <a:t>Profit</a:t>
            </a:r>
            <a:r>
              <a:rPr lang="es-ES"/>
              <a:t> tiene valores tanto positivos como muy negativos, con fuerte asimetría, lo cual justifica usar modelos robustos y revisar outliers.</a:t>
            </a:r>
            <a:endParaRPr/>
          </a:p>
          <a:p>
            <a:pPr indent="-201930" lvl="0" marL="228600" rtl="0" algn="l">
              <a:lnSpc>
                <a:spcPct val="115000"/>
              </a:lnSpc>
              <a:spcBef>
                <a:spcPts val="1000"/>
              </a:spcBef>
              <a:spcAft>
                <a:spcPts val="0"/>
              </a:spcAft>
              <a:buClr>
                <a:schemeClr val="dk1"/>
              </a:buClr>
              <a:buSzPct val="100000"/>
              <a:buChar char="•"/>
            </a:pPr>
            <a:r>
              <a:rPr i="1" lang="es-ES"/>
              <a:t>Discount</a:t>
            </a:r>
            <a:r>
              <a:rPr lang="es-ES"/>
              <a:t> tiene una distribución acotada entre 0 y 0.8, con la mayoría de los valores cercanos a 0.2.</a:t>
            </a:r>
            <a:endParaRPr/>
          </a:p>
          <a:p>
            <a:pPr indent="-201930" lvl="0" marL="228600" rtl="0" algn="l">
              <a:lnSpc>
                <a:spcPct val="115000"/>
              </a:lnSpc>
              <a:spcBef>
                <a:spcPts val="1000"/>
              </a:spcBef>
              <a:spcAft>
                <a:spcPts val="0"/>
              </a:spcAft>
              <a:buClr>
                <a:schemeClr val="dk1"/>
              </a:buClr>
              <a:buSzPct val="100000"/>
              <a:buChar char="•"/>
            </a:pPr>
            <a:r>
              <a:rPr i="1" lang="es-ES"/>
              <a:t>Quantity</a:t>
            </a:r>
            <a:r>
              <a:rPr lang="es-ES"/>
              <a:t> es una variable poco dispersa (la mayoría entre 1 y 5).</a:t>
            </a:r>
            <a:endParaRPr/>
          </a:p>
          <a:p>
            <a:pPr indent="-201930" lvl="0" marL="228600" rtl="0" algn="l">
              <a:lnSpc>
                <a:spcPct val="115000"/>
              </a:lnSpc>
              <a:spcBef>
                <a:spcPts val="1000"/>
              </a:spcBef>
              <a:spcAft>
                <a:spcPts val="0"/>
              </a:spcAft>
              <a:buClr>
                <a:schemeClr val="dk1"/>
              </a:buClr>
              <a:buSzPct val="100000"/>
              <a:buChar char="•"/>
            </a:pPr>
            <a:r>
              <a:rPr i="1" lang="es-ES"/>
              <a:t>Lead time</a:t>
            </a:r>
            <a:r>
              <a:rPr lang="es-ES"/>
              <a:t> se concentra en pocos días, mostrando consistencia en tiempos de despacho.</a:t>
            </a:r>
            <a:endParaRPr/>
          </a:p>
          <a:p>
            <a:pPr indent="0" lvl="0" marL="0" rtl="0" algn="l">
              <a:lnSpc>
                <a:spcPct val="115000"/>
              </a:lnSpc>
              <a:spcBef>
                <a:spcPts val="1000"/>
              </a:spcBef>
              <a:spcAft>
                <a:spcPts val="0"/>
              </a:spcAft>
              <a:buClr>
                <a:schemeClr val="dk1"/>
              </a:buClr>
              <a:buSzPct val="100000"/>
              <a:buNone/>
            </a:pPr>
            <a:r>
              <a:rPr lang="es-ES"/>
              <a:t>Estas estadísticas iniciales permiten contextualizar las decisiones posteriores del EDA y los modelos inferenciales.</a:t>
            </a:r>
            <a:endParaRPr b="0"/>
          </a:p>
          <a:p>
            <a:pPr indent="0" lvl="0" marL="0" rtl="0" algn="l">
              <a:lnSpc>
                <a:spcPct val="150000"/>
              </a:lnSpc>
              <a:spcBef>
                <a:spcPts val="1000"/>
              </a:spcBef>
              <a:spcAft>
                <a:spcPts val="0"/>
              </a:spcAft>
              <a:buClr>
                <a:schemeClr val="dk1"/>
              </a:buClr>
              <a:buSzPct val="1000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F4761"/>
              </a:buClr>
              <a:buSzPts val="3600"/>
              <a:buFont typeface="Times New Roman"/>
              <a:buNone/>
            </a:pPr>
            <a:r>
              <a:rPr lang="es-ES" sz="3600">
                <a:solidFill>
                  <a:srgbClr val="0F4761"/>
                </a:solidFill>
                <a:latin typeface="Times New Roman"/>
                <a:ea typeface="Times New Roman"/>
                <a:cs typeface="Times New Roman"/>
                <a:sym typeface="Times New Roman"/>
              </a:rPr>
              <a:t>2. Outliers</a:t>
            </a:r>
            <a:endParaRPr sz="3600">
              <a:solidFill>
                <a:srgbClr val="0F4761"/>
              </a:solidFill>
              <a:latin typeface="Times New Roman"/>
              <a:ea typeface="Times New Roman"/>
              <a:cs typeface="Times New Roman"/>
              <a:sym typeface="Times New Roman"/>
            </a:endParaRPr>
          </a:p>
        </p:txBody>
      </p:sp>
      <p:sp>
        <p:nvSpPr>
          <p:cNvPr id="139" name="Google Shape;139;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10000"/>
          </a:bodyPr>
          <a:lstStyle/>
          <a:p>
            <a:pPr indent="0" lvl="0" marL="0" rtl="0" algn="l">
              <a:lnSpc>
                <a:spcPct val="150000"/>
              </a:lnSpc>
              <a:spcBef>
                <a:spcPts val="0"/>
              </a:spcBef>
              <a:spcAft>
                <a:spcPts val="0"/>
              </a:spcAft>
              <a:buClr>
                <a:schemeClr val="dk1"/>
              </a:buClr>
              <a:buSzPct val="100000"/>
              <a:buNone/>
            </a:pPr>
            <a:r>
              <a:rPr lang="es-ES"/>
              <a:t>Se identificaron outliers mediante el método IQR:</a:t>
            </a:r>
            <a:endParaRPr b="0"/>
          </a:p>
          <a:p>
            <a:pPr indent="-188595" lvl="0" marL="228600" rtl="0" algn="l">
              <a:lnSpc>
                <a:spcPct val="150000"/>
              </a:lnSpc>
              <a:spcBef>
                <a:spcPts val="1000"/>
              </a:spcBef>
              <a:spcAft>
                <a:spcPts val="0"/>
              </a:spcAft>
              <a:buClr>
                <a:schemeClr val="dk1"/>
              </a:buClr>
              <a:buSzPct val="100000"/>
              <a:buChar char="•"/>
            </a:pPr>
            <a:r>
              <a:rPr lang="es-ES"/>
              <a:t>1167 outliers en Sales</a:t>
            </a:r>
            <a:endParaRPr/>
          </a:p>
          <a:p>
            <a:pPr indent="-188595" lvl="0" marL="228600" rtl="0" algn="l">
              <a:lnSpc>
                <a:spcPct val="150000"/>
              </a:lnSpc>
              <a:spcBef>
                <a:spcPts val="1000"/>
              </a:spcBef>
              <a:spcAft>
                <a:spcPts val="0"/>
              </a:spcAft>
              <a:buClr>
                <a:schemeClr val="dk1"/>
              </a:buClr>
              <a:buSzPct val="100000"/>
              <a:buChar char="•"/>
            </a:pPr>
            <a:r>
              <a:rPr lang="es-ES"/>
              <a:t>1881 en Profit</a:t>
            </a:r>
            <a:endParaRPr/>
          </a:p>
          <a:p>
            <a:pPr indent="-188595" lvl="0" marL="228600" rtl="0" algn="l">
              <a:lnSpc>
                <a:spcPct val="150000"/>
              </a:lnSpc>
              <a:spcBef>
                <a:spcPts val="1000"/>
              </a:spcBef>
              <a:spcAft>
                <a:spcPts val="0"/>
              </a:spcAft>
              <a:buClr>
                <a:schemeClr val="dk1"/>
              </a:buClr>
              <a:buSzPct val="100000"/>
              <a:buChar char="•"/>
            </a:pPr>
            <a:r>
              <a:rPr lang="es-ES"/>
              <a:t>170 en Quantity</a:t>
            </a:r>
            <a:endParaRPr/>
          </a:p>
          <a:p>
            <a:pPr indent="0" lvl="0" marL="0" rtl="0" algn="l">
              <a:lnSpc>
                <a:spcPct val="150000"/>
              </a:lnSpc>
              <a:spcBef>
                <a:spcPts val="1000"/>
              </a:spcBef>
              <a:spcAft>
                <a:spcPts val="0"/>
              </a:spcAft>
              <a:buClr>
                <a:schemeClr val="dk1"/>
              </a:buClr>
              <a:buSzPct val="100000"/>
              <a:buNone/>
            </a:pPr>
            <a:r>
              <a:rPr lang="es-ES"/>
              <a:t>Se marcaron con banderas (out_sales, out_profit, out_qty) sin eliminarlos, porque representan casos reales del negocio.</a:t>
            </a:r>
            <a:endParaRPr b="0"/>
          </a:p>
          <a:p>
            <a:pPr indent="0" lvl="0" marL="0" rtl="0" algn="l">
              <a:lnSpc>
                <a:spcPct val="150000"/>
              </a:lnSpc>
              <a:spcBef>
                <a:spcPts val="1000"/>
              </a:spcBef>
              <a:spcAft>
                <a:spcPts val="0"/>
              </a:spcAft>
              <a:buClr>
                <a:schemeClr val="dk1"/>
              </a:buClr>
              <a:buSzPct val="100000"/>
              <a:buNone/>
            </a:pPr>
            <a:br>
              <a:rPr lang="es-ES"/>
            </a:b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9"/>
          <p:cNvSpPr txBox="1"/>
          <p:nvPr>
            <p:ph type="title"/>
          </p:nvPr>
        </p:nvSpPr>
        <p:spPr>
          <a:xfrm>
            <a:off x="838200" y="145669"/>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200"/>
              <a:buFont typeface="Play"/>
              <a:buNone/>
            </a:pPr>
            <a:r>
              <a:rPr lang="es-ES" sz="3200" cap="small"/>
              <a:t>Justificación del tratamiento de outliers y valores faltantes</a:t>
            </a:r>
            <a:endParaRPr sz="3200"/>
          </a:p>
        </p:txBody>
      </p:sp>
      <p:sp>
        <p:nvSpPr>
          <p:cNvPr id="145" name="Google Shape;145;p9"/>
          <p:cNvSpPr txBox="1"/>
          <p:nvPr>
            <p:ph idx="1" type="body"/>
          </p:nvPr>
        </p:nvSpPr>
        <p:spPr>
          <a:xfrm>
            <a:off x="838200" y="1298448"/>
            <a:ext cx="10515600" cy="4878515"/>
          </a:xfrm>
          <a:prstGeom prst="rect">
            <a:avLst/>
          </a:prstGeom>
          <a:noFill/>
          <a:ln>
            <a:noFill/>
          </a:ln>
        </p:spPr>
        <p:txBody>
          <a:bodyPr anchorCtr="0" anchor="t" bIns="45700" lIns="91425" spcFirstLastPara="1" rIns="91425" wrap="square" tIns="45700">
            <a:normAutofit fontScale="55000"/>
          </a:bodyPr>
          <a:lstStyle/>
          <a:p>
            <a:pPr indent="-201930" lvl="0" marL="228600" rtl="0" algn="l">
              <a:lnSpc>
                <a:spcPct val="115000"/>
              </a:lnSpc>
              <a:spcBef>
                <a:spcPts val="0"/>
              </a:spcBef>
              <a:spcAft>
                <a:spcPts val="0"/>
              </a:spcAft>
              <a:buClr>
                <a:schemeClr val="dk1"/>
              </a:buClr>
              <a:buSzPct val="100000"/>
              <a:buChar char="•"/>
            </a:pPr>
            <a:r>
              <a:rPr b="1" lang="es-ES"/>
              <a:t>Outliers:</a:t>
            </a:r>
            <a:endParaRPr b="0"/>
          </a:p>
          <a:p>
            <a:pPr indent="0" lvl="0" marL="0" rtl="0" algn="l">
              <a:lnSpc>
                <a:spcPct val="115000"/>
              </a:lnSpc>
              <a:spcBef>
                <a:spcPts val="1000"/>
              </a:spcBef>
              <a:spcAft>
                <a:spcPts val="0"/>
              </a:spcAft>
              <a:buClr>
                <a:schemeClr val="dk1"/>
              </a:buClr>
              <a:buSzPct val="100000"/>
              <a:buNone/>
            </a:pPr>
            <a:r>
              <a:rPr lang="es-ES"/>
              <a:t>Los valores atípicos fueron identificados mediante el método del rango intercuartílico (IQR), detectándose:</a:t>
            </a:r>
            <a:endParaRPr b="0"/>
          </a:p>
          <a:p>
            <a:pPr indent="-201930" lvl="0" marL="228600" rtl="0" algn="l">
              <a:lnSpc>
                <a:spcPct val="115000"/>
              </a:lnSpc>
              <a:spcBef>
                <a:spcPts val="1000"/>
              </a:spcBef>
              <a:spcAft>
                <a:spcPts val="0"/>
              </a:spcAft>
              <a:buClr>
                <a:schemeClr val="dk1"/>
              </a:buClr>
              <a:buSzPct val="100000"/>
              <a:buChar char="•"/>
            </a:pPr>
            <a:r>
              <a:rPr lang="es-ES"/>
              <a:t>1167 outliers en </a:t>
            </a:r>
            <a:r>
              <a:rPr i="1" lang="es-ES"/>
              <a:t>Sales</a:t>
            </a:r>
            <a:endParaRPr/>
          </a:p>
          <a:p>
            <a:pPr indent="-201930" lvl="0" marL="228600" rtl="0" algn="l">
              <a:lnSpc>
                <a:spcPct val="115000"/>
              </a:lnSpc>
              <a:spcBef>
                <a:spcPts val="1000"/>
              </a:spcBef>
              <a:spcAft>
                <a:spcPts val="0"/>
              </a:spcAft>
              <a:buClr>
                <a:schemeClr val="dk1"/>
              </a:buClr>
              <a:buSzPct val="100000"/>
              <a:buChar char="•"/>
            </a:pPr>
            <a:r>
              <a:rPr lang="es-ES"/>
              <a:t>1881 outliers en </a:t>
            </a:r>
            <a:r>
              <a:rPr i="1" lang="es-ES"/>
              <a:t>Profit</a:t>
            </a:r>
            <a:endParaRPr/>
          </a:p>
          <a:p>
            <a:pPr indent="-201930" lvl="0" marL="228600" rtl="0" algn="l">
              <a:lnSpc>
                <a:spcPct val="115000"/>
              </a:lnSpc>
              <a:spcBef>
                <a:spcPts val="1000"/>
              </a:spcBef>
              <a:spcAft>
                <a:spcPts val="0"/>
              </a:spcAft>
              <a:buClr>
                <a:schemeClr val="dk1"/>
              </a:buClr>
              <a:buSzPct val="100000"/>
              <a:buChar char="•"/>
            </a:pPr>
            <a:r>
              <a:rPr lang="es-ES"/>
              <a:t>170 outliers en </a:t>
            </a:r>
            <a:r>
              <a:rPr i="1" lang="es-ES"/>
              <a:t>Quantity</a:t>
            </a:r>
            <a:endParaRPr/>
          </a:p>
          <a:p>
            <a:pPr indent="0" lvl="0" marL="0" rtl="0" algn="l">
              <a:lnSpc>
                <a:spcPct val="115000"/>
              </a:lnSpc>
              <a:spcBef>
                <a:spcPts val="1000"/>
              </a:spcBef>
              <a:spcAft>
                <a:spcPts val="0"/>
              </a:spcAft>
              <a:buClr>
                <a:schemeClr val="dk1"/>
              </a:buClr>
              <a:buSzPct val="100000"/>
              <a:buNone/>
            </a:pPr>
            <a:r>
              <a:rPr lang="es-ES"/>
              <a:t>Tras revisar la distribución de cada variable y el contexto del negocio minorista, se decidió </a:t>
            </a:r>
            <a:r>
              <a:rPr b="1" lang="es-ES"/>
              <a:t>no eliminar los outliers</a:t>
            </a:r>
            <a:r>
              <a:rPr lang="es-ES"/>
              <a:t>. En retail, las transacciones extremas suelen corresponder a ventas grandes, descuentos excepcionales o productos de alto valor, por lo que representan </a:t>
            </a:r>
            <a:r>
              <a:rPr b="1" lang="es-ES"/>
              <a:t>casos reales del negocio</a:t>
            </a:r>
            <a:r>
              <a:rPr lang="es-ES"/>
              <a:t> y no errores de medición.</a:t>
            </a:r>
            <a:endParaRPr b="0"/>
          </a:p>
          <a:p>
            <a:pPr indent="0" lvl="0" marL="0" rtl="0" algn="l">
              <a:lnSpc>
                <a:spcPct val="115000"/>
              </a:lnSpc>
              <a:spcBef>
                <a:spcPts val="1000"/>
              </a:spcBef>
              <a:spcAft>
                <a:spcPts val="0"/>
              </a:spcAft>
              <a:buClr>
                <a:schemeClr val="dk1"/>
              </a:buClr>
              <a:buSzPct val="100000"/>
              <a:buNone/>
            </a:pPr>
            <a:r>
              <a:rPr lang="es-ES"/>
              <a:t>Eliminar estos valores podría </a:t>
            </a:r>
            <a:r>
              <a:rPr b="1" lang="es-ES"/>
              <a:t>sesgar el análisis hacia transacciones de tamaño promedio</a:t>
            </a:r>
            <a:r>
              <a:rPr lang="es-ES"/>
              <a:t>, distorsionando conclusiones sobre rentabilidad, descuentos y variabilidad por categoría o región.</a:t>
            </a:r>
            <a:endParaRPr b="0"/>
          </a:p>
          <a:p>
            <a:pPr indent="0" lvl="0" marL="0" rtl="0" algn="l">
              <a:lnSpc>
                <a:spcPct val="115000"/>
              </a:lnSpc>
              <a:spcBef>
                <a:spcPts val="1000"/>
              </a:spcBef>
              <a:spcAft>
                <a:spcPts val="0"/>
              </a:spcAft>
              <a:buClr>
                <a:schemeClr val="dk1"/>
              </a:buClr>
              <a:buSzPct val="100000"/>
              <a:buNone/>
            </a:pPr>
            <a:r>
              <a:rPr lang="es-ES"/>
              <a:t>Se asume que estos outliers </a:t>
            </a:r>
            <a:r>
              <a:rPr b="1" lang="es-ES"/>
              <a:t>no provienen de errores de carga</a:t>
            </a:r>
            <a:r>
              <a:rPr lang="es-ES"/>
              <a:t> y que forman parte de la heterogeneidad natural del dataset.</a:t>
            </a:r>
            <a:endParaRPr b="0"/>
          </a:p>
          <a:p>
            <a:pPr indent="0" lvl="0" marL="0" rtl="0" algn="l">
              <a:lnSpc>
                <a:spcPct val="115000"/>
              </a:lnSpc>
              <a:spcBef>
                <a:spcPts val="1000"/>
              </a:spcBef>
              <a:spcAft>
                <a:spcPts val="0"/>
              </a:spcAft>
              <a:buClr>
                <a:schemeClr val="dk1"/>
              </a:buClr>
              <a:buSzPct val="100000"/>
              <a:buNone/>
            </a:pPr>
            <a:r>
              <a:rPr lang="es-ES"/>
              <a:t>Esta decisión es coherente con el objetivo del TP, dado que se busca modelar el comportamiento real del negocio y no una versión artificialmente “suavizada” de los datos.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0"/>
          <p:cNvSpPr txBox="1"/>
          <p:nvPr>
            <p:ph type="title"/>
          </p:nvPr>
        </p:nvSpPr>
        <p:spPr>
          <a:xfrm>
            <a:off x="838200" y="145669"/>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200"/>
              <a:buFont typeface="Play"/>
              <a:buNone/>
            </a:pPr>
            <a:r>
              <a:rPr lang="es-ES" sz="3200" cap="small"/>
              <a:t>Justificación del tratamiento de outliers y valores faltantes</a:t>
            </a:r>
            <a:endParaRPr sz="3200"/>
          </a:p>
        </p:txBody>
      </p:sp>
      <p:sp>
        <p:nvSpPr>
          <p:cNvPr id="151" name="Google Shape;151;p10"/>
          <p:cNvSpPr txBox="1"/>
          <p:nvPr>
            <p:ph idx="1" type="body"/>
          </p:nvPr>
        </p:nvSpPr>
        <p:spPr>
          <a:xfrm>
            <a:off x="838200" y="1298448"/>
            <a:ext cx="10515600" cy="4878515"/>
          </a:xfrm>
          <a:prstGeom prst="rect">
            <a:avLst/>
          </a:prstGeom>
          <a:noFill/>
          <a:ln>
            <a:noFill/>
          </a:ln>
        </p:spPr>
        <p:txBody>
          <a:bodyPr anchorCtr="0" anchor="t" bIns="45700" lIns="91425" spcFirstLastPara="1" rIns="91425" wrap="square" tIns="45700">
            <a:normAutofit fontScale="40000"/>
          </a:bodyPr>
          <a:lstStyle/>
          <a:p>
            <a:pPr indent="0" lvl="0" marL="0" rtl="0" algn="l">
              <a:lnSpc>
                <a:spcPct val="115000"/>
              </a:lnSpc>
              <a:spcBef>
                <a:spcPts val="0"/>
              </a:spcBef>
              <a:spcAft>
                <a:spcPts val="0"/>
              </a:spcAft>
              <a:buClr>
                <a:schemeClr val="dk1"/>
              </a:buClr>
              <a:buSzPct val="100000"/>
              <a:buNone/>
            </a:pPr>
            <a:r>
              <a:rPr lang="es-ES"/>
              <a:t>El análisis inicial mostró una proporción </a:t>
            </a:r>
            <a:r>
              <a:rPr b="1" lang="es-ES"/>
              <a:t>muy baja de valores faltantes</a:t>
            </a:r>
            <a:r>
              <a:rPr lang="es-ES"/>
              <a:t>, sin patrones sistemáticos claros.</a:t>
            </a:r>
            <a:endParaRPr b="0"/>
          </a:p>
          <a:p>
            <a:pPr indent="0" lvl="0" marL="0" rtl="0" algn="l">
              <a:lnSpc>
                <a:spcPct val="115000"/>
              </a:lnSpc>
              <a:spcBef>
                <a:spcPts val="1000"/>
              </a:spcBef>
              <a:spcAft>
                <a:spcPts val="0"/>
              </a:spcAft>
              <a:buClr>
                <a:schemeClr val="dk1"/>
              </a:buClr>
              <a:buSzPct val="100000"/>
              <a:buNone/>
            </a:pPr>
            <a:r>
              <a:rPr lang="es-ES"/>
              <a:t>Por este motivo, se asume que los datos faltan </a:t>
            </a:r>
            <a:r>
              <a:rPr b="1" lang="es-ES"/>
              <a:t>completamente al azar (MCAR)</a:t>
            </a:r>
            <a:r>
              <a:rPr lang="es-ES"/>
              <a:t>. Bajo este supuesto:</a:t>
            </a:r>
            <a:endParaRPr b="0"/>
          </a:p>
          <a:p>
            <a:pPr indent="-188595" lvl="0" marL="228600" rtl="0" algn="l">
              <a:lnSpc>
                <a:spcPct val="115000"/>
              </a:lnSpc>
              <a:spcBef>
                <a:spcPts val="1000"/>
              </a:spcBef>
              <a:spcAft>
                <a:spcPts val="0"/>
              </a:spcAft>
              <a:buClr>
                <a:schemeClr val="dk1"/>
              </a:buClr>
              <a:buSzPct val="100000"/>
              <a:buChar char="•"/>
            </a:pPr>
            <a:r>
              <a:rPr lang="es-ES"/>
              <a:t>los valores faltantes </a:t>
            </a:r>
            <a:r>
              <a:rPr b="1" lang="es-ES"/>
              <a:t>no introducen sesgo</a:t>
            </a:r>
            <a:r>
              <a:rPr lang="es-ES"/>
              <a:t>,</a:t>
            </a:r>
            <a:endParaRPr/>
          </a:p>
          <a:p>
            <a:pPr indent="-188595" lvl="0" marL="228600" rtl="0" algn="l">
              <a:lnSpc>
                <a:spcPct val="115000"/>
              </a:lnSpc>
              <a:spcBef>
                <a:spcPts val="1000"/>
              </a:spcBef>
              <a:spcAft>
                <a:spcPts val="0"/>
              </a:spcAft>
              <a:buClr>
                <a:schemeClr val="dk1"/>
              </a:buClr>
              <a:buSzPct val="100000"/>
              <a:buChar char="•"/>
            </a:pPr>
            <a:r>
              <a:rPr lang="es-ES"/>
              <a:t>no afectan la representatividad del dataset,</a:t>
            </a:r>
            <a:endParaRPr/>
          </a:p>
          <a:p>
            <a:pPr indent="-188595" lvl="0" marL="228600" rtl="0" algn="l">
              <a:lnSpc>
                <a:spcPct val="115000"/>
              </a:lnSpc>
              <a:spcBef>
                <a:spcPts val="1000"/>
              </a:spcBef>
              <a:spcAft>
                <a:spcPts val="0"/>
              </a:spcAft>
              <a:buClr>
                <a:schemeClr val="dk1"/>
              </a:buClr>
              <a:buSzPct val="100000"/>
              <a:buChar char="•"/>
            </a:pPr>
            <a:r>
              <a:rPr lang="es-ES"/>
              <a:t>no requieren imputación.</a:t>
            </a:r>
            <a:endParaRPr/>
          </a:p>
          <a:p>
            <a:pPr indent="0" lvl="0" marL="0" rtl="0" algn="l">
              <a:lnSpc>
                <a:spcPct val="115000"/>
              </a:lnSpc>
              <a:spcBef>
                <a:spcPts val="1000"/>
              </a:spcBef>
              <a:spcAft>
                <a:spcPts val="0"/>
              </a:spcAft>
              <a:buClr>
                <a:schemeClr val="dk1"/>
              </a:buClr>
              <a:buSzPct val="100000"/>
              <a:buNone/>
            </a:pPr>
            <a:r>
              <a:rPr lang="es-ES"/>
              <a:t>Debido a la proporción mínima y a que las variables principales no presentaron faltantes relevantes, </a:t>
            </a:r>
            <a:r>
              <a:rPr b="1" lang="es-ES"/>
              <a:t>no fue necesaria ninguna imputación</a:t>
            </a:r>
            <a:r>
              <a:rPr lang="es-ES"/>
              <a:t>.</a:t>
            </a:r>
            <a:br>
              <a:rPr lang="es-ES"/>
            </a:br>
            <a:endParaRPr/>
          </a:p>
          <a:p>
            <a:pPr indent="0" lvl="0" marL="0" rtl="0" algn="l">
              <a:lnSpc>
                <a:spcPct val="115000"/>
              </a:lnSpc>
              <a:spcBef>
                <a:spcPts val="1000"/>
              </a:spcBef>
              <a:spcAft>
                <a:spcPts val="0"/>
              </a:spcAft>
              <a:buClr>
                <a:schemeClr val="dk1"/>
              </a:buClr>
              <a:buSzPct val="100000"/>
              <a:buNone/>
            </a:pPr>
            <a:r>
              <a:rPr b="1" lang="es-ES"/>
              <a:t>Impacto esperado de estas decisiones:</a:t>
            </a:r>
            <a:endParaRPr b="0"/>
          </a:p>
          <a:p>
            <a:pPr indent="-188595" lvl="0" marL="228600" rtl="0" algn="l">
              <a:lnSpc>
                <a:spcPct val="115000"/>
              </a:lnSpc>
              <a:spcBef>
                <a:spcPts val="1000"/>
              </a:spcBef>
              <a:spcAft>
                <a:spcPts val="0"/>
              </a:spcAft>
              <a:buClr>
                <a:schemeClr val="dk1"/>
              </a:buClr>
              <a:buSzPct val="155555"/>
              <a:buChar char="•"/>
            </a:pPr>
            <a:r>
              <a:rPr lang="es-ES"/>
              <a:t>Los resultados de los modelos y tests estadísticos reflejan el comportamiento real del negocio.</a:t>
            </a:r>
            <a:endParaRPr sz="1800"/>
          </a:p>
          <a:p>
            <a:pPr indent="-188595" lvl="0" marL="228600" rtl="0" algn="l">
              <a:lnSpc>
                <a:spcPct val="115000"/>
              </a:lnSpc>
              <a:spcBef>
                <a:spcPts val="1000"/>
              </a:spcBef>
              <a:spcAft>
                <a:spcPts val="0"/>
              </a:spcAft>
              <a:buClr>
                <a:schemeClr val="dk1"/>
              </a:buClr>
              <a:buSzPct val="155555"/>
              <a:buChar char="•"/>
            </a:pPr>
            <a:r>
              <a:rPr lang="es-ES"/>
              <a:t>La presencia de outliers contribuye a una mayor dispersión en </a:t>
            </a:r>
            <a:r>
              <a:rPr i="1" lang="es-ES"/>
              <a:t>Profit</a:t>
            </a:r>
            <a:r>
              <a:rPr lang="es-ES"/>
              <a:t> y </a:t>
            </a:r>
            <a:r>
              <a:rPr i="1" lang="es-ES"/>
              <a:t>Sales</a:t>
            </a:r>
            <a:r>
              <a:rPr lang="es-ES"/>
              <a:t>, pero </a:t>
            </a:r>
            <a:r>
              <a:rPr b="1" lang="es-ES"/>
              <a:t>no invalida los modelos</a:t>
            </a:r>
            <a:r>
              <a:rPr lang="es-ES"/>
              <a:t>, dado que se revisaron supuestos mediante:</a:t>
            </a:r>
            <a:endParaRPr sz="1800"/>
          </a:p>
          <a:p>
            <a:pPr indent="-194309" lvl="1" marL="685800" rtl="0" algn="l">
              <a:lnSpc>
                <a:spcPct val="115000"/>
              </a:lnSpc>
              <a:spcBef>
                <a:spcPts val="500"/>
              </a:spcBef>
              <a:spcAft>
                <a:spcPts val="0"/>
              </a:spcAft>
              <a:buClr>
                <a:schemeClr val="dk1"/>
              </a:buClr>
              <a:buSzPct val="150000"/>
              <a:buChar char="•"/>
            </a:pPr>
            <a:r>
              <a:rPr lang="es-ES"/>
              <a:t>QQ-plots</a:t>
            </a:r>
            <a:endParaRPr sz="1600"/>
          </a:p>
          <a:p>
            <a:pPr indent="-194309" lvl="1" marL="685800" rtl="0" algn="l">
              <a:lnSpc>
                <a:spcPct val="115000"/>
              </a:lnSpc>
              <a:spcBef>
                <a:spcPts val="500"/>
              </a:spcBef>
              <a:spcAft>
                <a:spcPts val="0"/>
              </a:spcAft>
              <a:buClr>
                <a:schemeClr val="dk1"/>
              </a:buClr>
              <a:buSzPct val="150000"/>
              <a:buChar char="•"/>
            </a:pPr>
            <a:r>
              <a:rPr lang="es-ES"/>
              <a:t>Residuals vs Fitted</a:t>
            </a:r>
            <a:endParaRPr sz="1600"/>
          </a:p>
          <a:p>
            <a:pPr indent="-194309" lvl="1" marL="685800" rtl="0" algn="l">
              <a:lnSpc>
                <a:spcPct val="115000"/>
              </a:lnSpc>
              <a:spcBef>
                <a:spcPts val="500"/>
              </a:spcBef>
              <a:spcAft>
                <a:spcPts val="0"/>
              </a:spcAft>
              <a:buClr>
                <a:schemeClr val="dk1"/>
              </a:buClr>
              <a:buSzPct val="150000"/>
              <a:buChar char="•"/>
            </a:pPr>
            <a:r>
              <a:rPr lang="es-ES"/>
              <a:t>VIF</a:t>
            </a:r>
            <a:endParaRPr sz="1600"/>
          </a:p>
          <a:p>
            <a:pPr indent="-194309" lvl="1" marL="685800" rtl="0" algn="l">
              <a:lnSpc>
                <a:spcPct val="115000"/>
              </a:lnSpc>
              <a:spcBef>
                <a:spcPts val="500"/>
              </a:spcBef>
              <a:spcAft>
                <a:spcPts val="0"/>
              </a:spcAft>
              <a:buClr>
                <a:schemeClr val="dk1"/>
              </a:buClr>
              <a:buSzPct val="150000"/>
              <a:buChar char="•"/>
            </a:pPr>
            <a:r>
              <a:rPr lang="es-ES"/>
              <a:t>Cook’s distance</a:t>
            </a:r>
            <a:endParaRPr sz="1600"/>
          </a:p>
          <a:p>
            <a:pPr indent="-188595" lvl="0" marL="228600" rtl="0" algn="l">
              <a:lnSpc>
                <a:spcPct val="115000"/>
              </a:lnSpc>
              <a:spcBef>
                <a:spcPts val="1000"/>
              </a:spcBef>
              <a:spcAft>
                <a:spcPts val="0"/>
              </a:spcAft>
              <a:buClr>
                <a:schemeClr val="dk1"/>
              </a:buClr>
              <a:buSzPct val="155555"/>
              <a:buChar char="•"/>
            </a:pPr>
            <a:r>
              <a:rPr lang="es-ES"/>
              <a:t>Las conclusiones sobre descuentos, categorías y regiones se mantienen robustas.</a:t>
            </a:r>
            <a:endParaRPr sz="1800"/>
          </a:p>
          <a:p>
            <a:pPr indent="0" lvl="0" marL="0" rtl="0" algn="l">
              <a:lnSpc>
                <a:spcPct val="115000"/>
              </a:lnSpc>
              <a:spcBef>
                <a:spcPts val="1000"/>
              </a:spcBef>
              <a:spcAft>
                <a:spcPts val="0"/>
              </a:spcAft>
              <a:buClr>
                <a:schemeClr val="dk1"/>
              </a:buClr>
              <a:buSzPct val="1000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F4761"/>
              </a:buClr>
              <a:buSzPts val="3600"/>
              <a:buFont typeface="Times New Roman"/>
              <a:buNone/>
            </a:pPr>
            <a:r>
              <a:rPr lang="es-ES" sz="3600">
                <a:solidFill>
                  <a:srgbClr val="0F4761"/>
                </a:solidFill>
                <a:latin typeface="Times New Roman"/>
                <a:ea typeface="Times New Roman"/>
                <a:cs typeface="Times New Roman"/>
                <a:sym typeface="Times New Roman"/>
              </a:rPr>
              <a:t>3. Relaciones entre variables</a:t>
            </a:r>
            <a:endParaRPr/>
          </a:p>
        </p:txBody>
      </p:sp>
      <p:sp>
        <p:nvSpPr>
          <p:cNvPr id="157" name="Google Shape;157;p11"/>
          <p:cNvSpPr txBox="1"/>
          <p:nvPr>
            <p:ph idx="1" type="body"/>
          </p:nvPr>
        </p:nvSpPr>
        <p:spPr>
          <a:xfrm>
            <a:off x="838200" y="1408176"/>
            <a:ext cx="3907536" cy="4768787"/>
          </a:xfrm>
          <a:prstGeom prst="rect">
            <a:avLst/>
          </a:prstGeom>
          <a:noFill/>
          <a:ln>
            <a:noFill/>
          </a:ln>
        </p:spPr>
        <p:txBody>
          <a:bodyPr anchorCtr="0" anchor="t" bIns="45700" lIns="91425" spcFirstLastPara="1" rIns="91425" wrap="square" tIns="45700">
            <a:normAutofit fontScale="62500"/>
          </a:bodyPr>
          <a:lstStyle/>
          <a:p>
            <a:pPr indent="0" lvl="0" marL="0" rtl="0" algn="l">
              <a:lnSpc>
                <a:spcPct val="115000"/>
              </a:lnSpc>
              <a:spcBef>
                <a:spcPts val="0"/>
              </a:spcBef>
              <a:spcAft>
                <a:spcPts val="0"/>
              </a:spcAft>
              <a:buClr>
                <a:schemeClr val="dk1"/>
              </a:buClr>
              <a:buSzPct val="100000"/>
              <a:buNone/>
            </a:pPr>
            <a:r>
              <a:rPr lang="es-ES"/>
              <a:t>Se analizaron correlaciones:</a:t>
            </a:r>
            <a:endParaRPr b="0"/>
          </a:p>
          <a:p>
            <a:pPr indent="-201930" lvl="0" marL="228600" rtl="0" algn="l">
              <a:lnSpc>
                <a:spcPct val="115000"/>
              </a:lnSpc>
              <a:spcBef>
                <a:spcPts val="1000"/>
              </a:spcBef>
              <a:spcAft>
                <a:spcPts val="0"/>
              </a:spcAft>
              <a:buClr>
                <a:schemeClr val="dk1"/>
              </a:buClr>
              <a:buSzPct val="100000"/>
              <a:buChar char="•"/>
            </a:pPr>
            <a:r>
              <a:rPr b="1" lang="es-ES"/>
              <a:t>Sales</a:t>
            </a:r>
            <a:r>
              <a:rPr lang="es-ES"/>
              <a:t> y </a:t>
            </a:r>
            <a:r>
              <a:rPr b="1" lang="es-ES"/>
              <a:t>Profit</a:t>
            </a:r>
            <a:r>
              <a:rPr lang="es-ES"/>
              <a:t> correlacionan positivamente.</a:t>
            </a:r>
            <a:endParaRPr/>
          </a:p>
          <a:p>
            <a:pPr indent="-201930" lvl="0" marL="228600" rtl="0" algn="l">
              <a:lnSpc>
                <a:spcPct val="115000"/>
              </a:lnSpc>
              <a:spcBef>
                <a:spcPts val="1000"/>
              </a:spcBef>
              <a:spcAft>
                <a:spcPts val="0"/>
              </a:spcAft>
              <a:buClr>
                <a:schemeClr val="dk1"/>
              </a:buClr>
              <a:buSzPct val="100000"/>
              <a:buChar char="•"/>
            </a:pPr>
            <a:r>
              <a:rPr b="1" lang="es-ES"/>
              <a:t>Discount</a:t>
            </a:r>
            <a:r>
              <a:rPr lang="es-ES"/>
              <a:t> tiene correlación negativa fuerte con </a:t>
            </a:r>
            <a:r>
              <a:rPr b="1" lang="es-ES"/>
              <a:t>margin_pct</a:t>
            </a:r>
            <a:r>
              <a:rPr lang="es-ES"/>
              <a:t>.</a:t>
            </a:r>
            <a:endParaRPr/>
          </a:p>
          <a:p>
            <a:pPr indent="-201930" lvl="0" marL="228600" rtl="0" algn="l">
              <a:lnSpc>
                <a:spcPct val="115000"/>
              </a:lnSpc>
              <a:spcBef>
                <a:spcPts val="1000"/>
              </a:spcBef>
              <a:spcAft>
                <a:spcPts val="0"/>
              </a:spcAft>
              <a:buClr>
                <a:schemeClr val="dk1"/>
              </a:buClr>
              <a:buSzPct val="100000"/>
              <a:buChar char="•"/>
            </a:pPr>
            <a:r>
              <a:rPr lang="es-ES"/>
              <a:t>quantity y margin_pct no aportan mucho de manera directa.</a:t>
            </a:r>
            <a:endParaRPr/>
          </a:p>
          <a:p>
            <a:pPr indent="0" lvl="0" marL="0" rtl="0" algn="l">
              <a:lnSpc>
                <a:spcPct val="115000"/>
              </a:lnSpc>
              <a:spcBef>
                <a:spcPts val="1000"/>
              </a:spcBef>
              <a:spcAft>
                <a:spcPts val="0"/>
              </a:spcAft>
              <a:buClr>
                <a:schemeClr val="dk1"/>
              </a:buClr>
              <a:buSzPct val="100000"/>
              <a:buNone/>
            </a:pPr>
            <a:r>
              <a:rPr lang="es-ES"/>
              <a:t>En este caso no se realizaron imputaciones, ya que la proporción de valores faltantes era mínima.</a:t>
            </a:r>
            <a:endParaRPr b="0"/>
          </a:p>
          <a:p>
            <a:pPr indent="-201930" lvl="0" marL="228600" rtl="0" algn="l">
              <a:lnSpc>
                <a:spcPct val="115000"/>
              </a:lnSpc>
              <a:spcBef>
                <a:spcPts val="1000"/>
              </a:spcBef>
              <a:spcAft>
                <a:spcPts val="0"/>
              </a:spcAft>
              <a:buClr>
                <a:schemeClr val="dk1"/>
              </a:buClr>
              <a:buSzPct val="100000"/>
              <a:buChar char="•"/>
            </a:pPr>
            <a:r>
              <a:rPr lang="es-ES"/>
              <a:t>Se generó el dataset final para modelado: </a:t>
            </a:r>
            <a:r>
              <a:rPr b="1" lang="es-ES"/>
              <a:t>data/clean/superstore_eda.csv</a:t>
            </a:r>
            <a:endParaRPr/>
          </a:p>
        </p:txBody>
      </p:sp>
      <p:sp>
        <p:nvSpPr>
          <p:cNvPr id="158" name="Google Shape;158;p11"/>
          <p:cNvSpPr txBox="1"/>
          <p:nvPr/>
        </p:nvSpPr>
        <p:spPr>
          <a:xfrm>
            <a:off x="5955030" y="2220206"/>
            <a:ext cx="60944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cap="small">
                <a:solidFill>
                  <a:schemeClr val="dk1"/>
                </a:solidFill>
                <a:latin typeface="Arial"/>
                <a:ea typeface="Arial"/>
                <a:cs typeface="Arial"/>
                <a:sym typeface="Arial"/>
              </a:rPr>
              <a:t>Comparación antes y después de la limpieza</a:t>
            </a:r>
            <a:endParaRPr/>
          </a:p>
        </p:txBody>
      </p:sp>
      <p:pic>
        <p:nvPicPr>
          <p:cNvPr id="159" name="Google Shape;159;p11"/>
          <p:cNvPicPr preferRelativeResize="0"/>
          <p:nvPr/>
        </p:nvPicPr>
        <p:blipFill rotWithShape="1">
          <a:blip r:embed="rId3">
            <a:alphaModFix/>
          </a:blip>
          <a:srcRect b="0" l="0" r="0" t="0"/>
          <a:stretch/>
        </p:blipFill>
        <p:spPr>
          <a:xfrm>
            <a:off x="4626864" y="2667857"/>
            <a:ext cx="7177543" cy="28500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2"/>
          <p:cNvSpPr txBox="1"/>
          <p:nvPr>
            <p:ph type="title"/>
          </p:nvPr>
        </p:nvSpPr>
        <p:spPr>
          <a:xfrm>
            <a:off x="838200" y="1825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Play"/>
              <a:buNone/>
            </a:pPr>
            <a:r>
              <a:rPr lang="es-ES" sz="3200" cap="small"/>
              <a:t>Evaluación del impacto de la limpieza</a:t>
            </a:r>
            <a:endParaRPr/>
          </a:p>
        </p:txBody>
      </p:sp>
      <p:sp>
        <p:nvSpPr>
          <p:cNvPr id="165" name="Google Shape;165;p12"/>
          <p:cNvSpPr txBox="1"/>
          <p:nvPr>
            <p:ph idx="1" type="body"/>
          </p:nvPr>
        </p:nvSpPr>
        <p:spPr>
          <a:xfrm>
            <a:off x="838200" y="1060704"/>
            <a:ext cx="10515600" cy="5116200"/>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15000"/>
              </a:lnSpc>
              <a:spcBef>
                <a:spcPts val="0"/>
              </a:spcBef>
              <a:spcAft>
                <a:spcPts val="0"/>
              </a:spcAft>
              <a:buClr>
                <a:schemeClr val="dk1"/>
              </a:buClr>
              <a:buSzPct val="100000"/>
              <a:buNone/>
            </a:pPr>
            <a:r>
              <a:rPr lang="es-ES"/>
              <a:t>El proceso de limpieza aplicado al dataset de Superstore incluyó:</a:t>
            </a:r>
            <a:endParaRPr b="0"/>
          </a:p>
          <a:p>
            <a:pPr indent="-201930" lvl="0" marL="228600" rtl="0" algn="l">
              <a:lnSpc>
                <a:spcPct val="115000"/>
              </a:lnSpc>
              <a:spcBef>
                <a:spcPts val="1000"/>
              </a:spcBef>
              <a:spcAft>
                <a:spcPts val="0"/>
              </a:spcAft>
              <a:buClr>
                <a:schemeClr val="dk1"/>
              </a:buClr>
              <a:buSzPct val="100000"/>
              <a:buChar char="•"/>
            </a:pPr>
            <a:r>
              <a:rPr lang="es-ES"/>
              <a:t>estandarización de nombres de columnas,</a:t>
            </a:r>
            <a:endParaRPr/>
          </a:p>
          <a:p>
            <a:pPr indent="-201930" lvl="0" marL="228600" rtl="0" algn="l">
              <a:lnSpc>
                <a:spcPct val="115000"/>
              </a:lnSpc>
              <a:spcBef>
                <a:spcPts val="1000"/>
              </a:spcBef>
              <a:spcAft>
                <a:spcPts val="0"/>
              </a:spcAft>
              <a:buClr>
                <a:schemeClr val="dk1"/>
              </a:buClr>
              <a:buSzPct val="100000"/>
              <a:buChar char="•"/>
            </a:pPr>
            <a:r>
              <a:rPr lang="es-ES"/>
              <a:t>conversión de fechas a formato adecuado,</a:t>
            </a:r>
            <a:endParaRPr/>
          </a:p>
          <a:p>
            <a:pPr indent="-201930" lvl="0" marL="228600" rtl="0" algn="l">
              <a:lnSpc>
                <a:spcPct val="115000"/>
              </a:lnSpc>
              <a:spcBef>
                <a:spcPts val="1000"/>
              </a:spcBef>
              <a:spcAft>
                <a:spcPts val="0"/>
              </a:spcAft>
              <a:buClr>
                <a:schemeClr val="dk1"/>
              </a:buClr>
              <a:buSzPct val="100000"/>
              <a:buChar char="•"/>
            </a:pPr>
            <a:r>
              <a:rPr lang="es-ES"/>
              <a:t>creación de variables derivadas (</a:t>
            </a:r>
            <a:r>
              <a:rPr i="1" lang="es-ES"/>
              <a:t>lead_time</a:t>
            </a:r>
            <a:r>
              <a:rPr lang="es-ES"/>
              <a:t>, </a:t>
            </a:r>
            <a:r>
              <a:rPr i="1" lang="es-ES"/>
              <a:t>margin_pct</a:t>
            </a:r>
            <a:r>
              <a:rPr lang="es-ES"/>
              <a:t>, </a:t>
            </a:r>
            <a:r>
              <a:rPr i="1" lang="es-ES"/>
              <a:t>year</a:t>
            </a:r>
            <a:r>
              <a:rPr lang="es-ES"/>
              <a:t>, </a:t>
            </a:r>
            <a:r>
              <a:rPr i="1" lang="es-ES"/>
              <a:t>month</a:t>
            </a:r>
            <a:r>
              <a:rPr lang="es-ES"/>
              <a:t>),</a:t>
            </a:r>
            <a:endParaRPr/>
          </a:p>
          <a:p>
            <a:pPr indent="-201930" lvl="0" marL="228600" rtl="0" algn="l">
              <a:lnSpc>
                <a:spcPct val="115000"/>
              </a:lnSpc>
              <a:spcBef>
                <a:spcPts val="1000"/>
              </a:spcBef>
              <a:spcAft>
                <a:spcPts val="0"/>
              </a:spcAft>
              <a:buClr>
                <a:schemeClr val="dk1"/>
              </a:buClr>
              <a:buSzPct val="100000"/>
              <a:buChar char="•"/>
            </a:pPr>
            <a:r>
              <a:rPr lang="es-ES"/>
              <a:t>verificación de faltantes y duplicados,</a:t>
            </a:r>
            <a:endParaRPr/>
          </a:p>
          <a:p>
            <a:pPr indent="-201930" lvl="0" marL="228600" rtl="0" algn="l">
              <a:lnSpc>
                <a:spcPct val="115000"/>
              </a:lnSpc>
              <a:spcBef>
                <a:spcPts val="1000"/>
              </a:spcBef>
              <a:spcAft>
                <a:spcPts val="0"/>
              </a:spcAft>
              <a:buClr>
                <a:schemeClr val="dk1"/>
              </a:buClr>
              <a:buSzPct val="100000"/>
              <a:buChar char="•"/>
            </a:pPr>
            <a:r>
              <a:rPr lang="es-ES"/>
              <a:t>marcado (pero no eliminación) de outliers.</a:t>
            </a:r>
            <a:endParaRPr/>
          </a:p>
          <a:p>
            <a:pPr indent="0" lvl="0" marL="0" rtl="0" algn="l">
              <a:lnSpc>
                <a:spcPct val="115000"/>
              </a:lnSpc>
              <a:spcBef>
                <a:spcPts val="1000"/>
              </a:spcBef>
              <a:spcAft>
                <a:spcPts val="0"/>
              </a:spcAft>
              <a:buClr>
                <a:schemeClr val="dk1"/>
              </a:buClr>
              <a:buSzPct val="100000"/>
              <a:buNone/>
            </a:pPr>
            <a:r>
              <a:rPr lang="es-ES"/>
              <a:t>Para evaluar el impacto de estas transformaciones, se compararon las principales estadísticas descriptivas del dataset original (</a:t>
            </a:r>
            <a:r>
              <a:rPr i="1" lang="es-ES"/>
              <a:t>raw</a:t>
            </a:r>
            <a:r>
              <a:rPr lang="es-ES"/>
              <a:t>) con el dataset limpio (</a:t>
            </a:r>
            <a:r>
              <a:rPr i="1" lang="es-ES"/>
              <a:t>clean</a:t>
            </a:r>
            <a:r>
              <a:rPr lang="es-ES"/>
              <a:t>).</a:t>
            </a:r>
            <a:br>
              <a:rPr lang="es-ES"/>
            </a:br>
            <a:r>
              <a:rPr lang="es-ES"/>
              <a:t>Los valores de media de Sales, Profit, Discount y Quantity </a:t>
            </a:r>
            <a:r>
              <a:rPr b="1" lang="es-ES"/>
              <a:t>no presentan diferencias</a:t>
            </a:r>
            <a:r>
              <a:rPr lang="es-ES"/>
              <a:t>, lo que confirma que el proceso de limpieza </a:t>
            </a:r>
            <a:r>
              <a:rPr b="1" lang="es-ES"/>
              <a:t>no alteró la distribución original</a:t>
            </a:r>
            <a:r>
              <a:rPr lang="es-ES"/>
              <a:t> de los datos.</a:t>
            </a:r>
            <a:endParaRPr b="0"/>
          </a:p>
          <a:p>
            <a:pPr indent="0" lvl="0" marL="0" rtl="0" algn="l">
              <a:lnSpc>
                <a:spcPct val="115000"/>
              </a:lnSpc>
              <a:spcBef>
                <a:spcPts val="1000"/>
              </a:spcBef>
              <a:spcAft>
                <a:spcPts val="0"/>
              </a:spcAft>
              <a:buClr>
                <a:schemeClr val="dk1"/>
              </a:buClr>
              <a:buSzPct val="100000"/>
              <a:buNone/>
            </a:pPr>
            <a:r>
              <a:rPr lang="es-ES"/>
              <a:t>Como consecuencia:</a:t>
            </a:r>
            <a:endParaRPr b="0"/>
          </a:p>
          <a:p>
            <a:pPr indent="-201930" lvl="0" marL="228600" rtl="0" algn="l">
              <a:lnSpc>
                <a:spcPct val="115000"/>
              </a:lnSpc>
              <a:spcBef>
                <a:spcPts val="1000"/>
              </a:spcBef>
              <a:spcAft>
                <a:spcPts val="0"/>
              </a:spcAft>
              <a:buClr>
                <a:schemeClr val="dk1"/>
              </a:buClr>
              <a:buSzPct val="100000"/>
              <a:buChar char="•"/>
            </a:pPr>
            <a:r>
              <a:rPr lang="es-ES"/>
              <a:t>se preserva la representatividad del dataset,</a:t>
            </a:r>
            <a:endParaRPr/>
          </a:p>
          <a:p>
            <a:pPr indent="-201930" lvl="0" marL="228600" rtl="0" algn="l">
              <a:lnSpc>
                <a:spcPct val="115000"/>
              </a:lnSpc>
              <a:spcBef>
                <a:spcPts val="1000"/>
              </a:spcBef>
              <a:spcAft>
                <a:spcPts val="0"/>
              </a:spcAft>
              <a:buClr>
                <a:schemeClr val="dk1"/>
              </a:buClr>
              <a:buSzPct val="100000"/>
              <a:buChar char="•"/>
            </a:pPr>
            <a:r>
              <a:rPr lang="es-ES"/>
              <a:t>las conclusiones derivadas del análisis exploratorio e inferencial </a:t>
            </a:r>
            <a:r>
              <a:rPr b="1" lang="es-ES"/>
              <a:t>no se ven afectadas</a:t>
            </a:r>
            <a:r>
              <a:rPr lang="es-ES"/>
              <a:t>,</a:t>
            </a:r>
            <a:endParaRPr/>
          </a:p>
          <a:p>
            <a:pPr indent="-201930" lvl="0" marL="228600" rtl="0" algn="l">
              <a:lnSpc>
                <a:spcPct val="115000"/>
              </a:lnSpc>
              <a:spcBef>
                <a:spcPts val="1000"/>
              </a:spcBef>
              <a:spcAft>
                <a:spcPts val="0"/>
              </a:spcAft>
              <a:buClr>
                <a:schemeClr val="dk1"/>
              </a:buClr>
              <a:buSzPct val="100000"/>
              <a:buChar char="•"/>
            </a:pPr>
            <a:r>
              <a:rPr lang="es-ES"/>
              <a:t>las transformaciones aplicadas son seguras y no introducen sesgos.</a:t>
            </a:r>
            <a:endParaRPr/>
          </a:p>
          <a:p>
            <a:pPr indent="0" lvl="0" marL="0" rtl="0" algn="l">
              <a:lnSpc>
                <a:spcPct val="115000"/>
              </a:lnSpc>
              <a:spcBef>
                <a:spcPts val="1000"/>
              </a:spcBef>
              <a:spcAft>
                <a:spcPts val="0"/>
              </a:spcAft>
              <a:buClr>
                <a:schemeClr val="dk1"/>
              </a:buClr>
              <a:buSzPct val="100000"/>
              <a:buNone/>
            </a:pPr>
            <a:r>
              <a:rPr lang="es-ES"/>
              <a:t>La única variable nueva (</a:t>
            </a:r>
            <a:r>
              <a:rPr i="1" lang="es-ES"/>
              <a:t>lead_time</a:t>
            </a:r>
            <a:r>
              <a:rPr lang="es-ES"/>
              <a:t>) fue derivada correctamente a partir de las fechas, sin afectar el resto del análisis.</a:t>
            </a:r>
            <a:endParaRPr b="0"/>
          </a:p>
          <a:p>
            <a:pPr indent="0" lvl="0" marL="0" rtl="0" algn="l">
              <a:lnSpc>
                <a:spcPct val="115000"/>
              </a:lnSpc>
              <a:spcBef>
                <a:spcPts val="1000"/>
              </a:spcBef>
              <a:spcAft>
                <a:spcPts val="0"/>
              </a:spcAft>
              <a:buClr>
                <a:schemeClr val="dk1"/>
              </a:buClr>
              <a:buSzPct val="100000"/>
              <a:buNone/>
            </a:pPr>
            <a:r>
              <a:rPr lang="es-ES"/>
              <a:t>Esta evaluación confirma que la etapa de limpieza fue apropiada y no modificó el contenido informativo del dataset, alineándose con las buenas prácticas de análisis reproducible.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595959"/>
              </a:buClr>
              <a:buSzPts val="4400"/>
              <a:buFont typeface="Times New Roman"/>
              <a:buNone/>
            </a:pPr>
            <a:r>
              <a:rPr b="1" i="0" lang="es-ES" u="none" strike="noStrike">
                <a:solidFill>
                  <a:srgbClr val="595959"/>
                </a:solidFill>
                <a:latin typeface="Times New Roman"/>
                <a:ea typeface="Times New Roman"/>
                <a:cs typeface="Times New Roman"/>
                <a:sym typeface="Times New Roman"/>
              </a:rPr>
              <a:t>Etapa 3 — Inferencia y Modelado</a:t>
            </a:r>
            <a:endParaRPr/>
          </a:p>
        </p:txBody>
      </p:sp>
      <p:sp>
        <p:nvSpPr>
          <p:cNvPr id="171" name="Google Shape;171;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40000" lnSpcReduction="20000"/>
          </a:bodyPr>
          <a:lstStyle/>
          <a:p>
            <a:pPr indent="-487680" lvl="0" marL="514350" marR="0" rtl="0" algn="l">
              <a:lnSpc>
                <a:spcPct val="90000"/>
              </a:lnSpc>
              <a:spcBef>
                <a:spcPts val="0"/>
              </a:spcBef>
              <a:spcAft>
                <a:spcPts val="0"/>
              </a:spcAft>
              <a:buClr>
                <a:srgbClr val="0F4761"/>
              </a:buClr>
              <a:buSzPct val="100000"/>
              <a:buAutoNum type="alphaUcPeriod"/>
            </a:pPr>
            <a:r>
              <a:rPr b="0" i="0" lang="es-ES" u="none" strike="noStrike">
                <a:solidFill>
                  <a:srgbClr val="0F4761"/>
                </a:solidFill>
                <a:latin typeface="Times New Roman"/>
                <a:ea typeface="Times New Roman"/>
                <a:cs typeface="Times New Roman"/>
                <a:sym typeface="Times New Roman"/>
              </a:rPr>
              <a:t>ANOVA: Profit según Segment</a:t>
            </a:r>
            <a:endParaRPr b="0" i="0" u="none" strike="noStrike">
              <a:solidFill>
                <a:srgbClr val="0F4761"/>
              </a:solidFill>
              <a:latin typeface="Times New Roman"/>
              <a:ea typeface="Times New Roman"/>
              <a:cs typeface="Times New Roman"/>
              <a:sym typeface="Times New Roman"/>
            </a:endParaRPr>
          </a:p>
          <a:p>
            <a:pPr indent="0" lvl="0" marL="0" rtl="0" algn="l">
              <a:lnSpc>
                <a:spcPct val="115000"/>
              </a:lnSpc>
              <a:spcBef>
                <a:spcPts val="1000"/>
              </a:spcBef>
              <a:spcAft>
                <a:spcPts val="0"/>
              </a:spcAft>
              <a:buClr>
                <a:schemeClr val="dk1"/>
              </a:buClr>
              <a:buSzPct val="100000"/>
              <a:buNone/>
            </a:pPr>
            <a:r>
              <a:rPr lang="es-ES" cap="small"/>
              <a:t>1. Estadísticas iniciales</a:t>
            </a:r>
            <a:endParaRPr b="0"/>
          </a:p>
          <a:p>
            <a:pPr indent="0" lvl="0" marL="0" rtl="0" algn="l">
              <a:lnSpc>
                <a:spcPct val="115000"/>
              </a:lnSpc>
              <a:spcBef>
                <a:spcPts val="1000"/>
              </a:spcBef>
              <a:spcAft>
                <a:spcPts val="0"/>
              </a:spcAft>
              <a:buClr>
                <a:schemeClr val="dk1"/>
              </a:buClr>
              <a:buSzPct val="100000"/>
              <a:buNone/>
            </a:pPr>
            <a:r>
              <a:rPr lang="es-ES"/>
              <a:t>Medias de Profit:</a:t>
            </a:r>
            <a:endParaRPr b="0"/>
          </a:p>
          <a:p>
            <a:pPr indent="-201930" lvl="0" marL="228600" rtl="0" algn="l">
              <a:lnSpc>
                <a:spcPct val="115000"/>
              </a:lnSpc>
              <a:spcBef>
                <a:spcPts val="1000"/>
              </a:spcBef>
              <a:spcAft>
                <a:spcPts val="0"/>
              </a:spcAft>
              <a:buClr>
                <a:schemeClr val="dk1"/>
              </a:buClr>
              <a:buSzPct val="100000"/>
              <a:buChar char="•"/>
            </a:pPr>
            <a:r>
              <a:rPr lang="es-ES"/>
              <a:t>Consumer: 25.8</a:t>
            </a:r>
            <a:endParaRPr/>
          </a:p>
          <a:p>
            <a:pPr indent="-201930" lvl="0" marL="228600" rtl="0" algn="l">
              <a:lnSpc>
                <a:spcPct val="115000"/>
              </a:lnSpc>
              <a:spcBef>
                <a:spcPts val="1000"/>
              </a:spcBef>
              <a:spcAft>
                <a:spcPts val="0"/>
              </a:spcAft>
              <a:buClr>
                <a:schemeClr val="dk1"/>
              </a:buClr>
              <a:buSzPct val="100000"/>
              <a:buChar char="•"/>
            </a:pPr>
            <a:r>
              <a:rPr lang="es-ES"/>
              <a:t>Corporate: 30.5</a:t>
            </a:r>
            <a:endParaRPr/>
          </a:p>
          <a:p>
            <a:pPr indent="-201930" lvl="0" marL="228600" rtl="0" algn="l">
              <a:lnSpc>
                <a:spcPct val="115000"/>
              </a:lnSpc>
              <a:spcBef>
                <a:spcPts val="1000"/>
              </a:spcBef>
              <a:spcAft>
                <a:spcPts val="0"/>
              </a:spcAft>
              <a:buClr>
                <a:schemeClr val="dk1"/>
              </a:buClr>
              <a:buSzPct val="100000"/>
              <a:buChar char="•"/>
            </a:pPr>
            <a:r>
              <a:rPr lang="es-ES"/>
              <a:t>Home Office: 33.8</a:t>
            </a:r>
            <a:br>
              <a:rPr lang="es-ES"/>
            </a:br>
            <a:r>
              <a:rPr lang="es-ES"/>
              <a:t>Muy similares.</a:t>
            </a:r>
            <a:endParaRPr/>
          </a:p>
          <a:p>
            <a:pPr indent="0" lvl="0" marL="0" rtl="0" algn="l">
              <a:lnSpc>
                <a:spcPct val="115000"/>
              </a:lnSpc>
              <a:spcBef>
                <a:spcPts val="1000"/>
              </a:spcBef>
              <a:spcAft>
                <a:spcPts val="0"/>
              </a:spcAft>
              <a:buClr>
                <a:schemeClr val="dk1"/>
              </a:buClr>
              <a:buSzPct val="100000"/>
              <a:buNone/>
            </a:pPr>
            <a:r>
              <a:rPr lang="es-ES" cap="small"/>
              <a:t>2. Resultado del ANOVA</a:t>
            </a:r>
            <a:endParaRPr b="0"/>
          </a:p>
          <a:p>
            <a:pPr indent="-201930" lvl="0" marL="228600" rtl="0" algn="l">
              <a:lnSpc>
                <a:spcPct val="115000"/>
              </a:lnSpc>
              <a:spcBef>
                <a:spcPts val="1000"/>
              </a:spcBef>
              <a:spcAft>
                <a:spcPts val="0"/>
              </a:spcAft>
              <a:buClr>
                <a:schemeClr val="dk1"/>
              </a:buClr>
              <a:buSzPct val="100000"/>
              <a:buChar char="•"/>
            </a:pPr>
            <a:r>
              <a:rPr b="1" lang="es-ES"/>
              <a:t>F = 0.898</a:t>
            </a:r>
            <a:endParaRPr/>
          </a:p>
          <a:p>
            <a:pPr indent="-201930" lvl="0" marL="228600" rtl="0" algn="l">
              <a:lnSpc>
                <a:spcPct val="115000"/>
              </a:lnSpc>
              <a:spcBef>
                <a:spcPts val="1000"/>
              </a:spcBef>
              <a:spcAft>
                <a:spcPts val="0"/>
              </a:spcAft>
              <a:buClr>
                <a:schemeClr val="dk1"/>
              </a:buClr>
              <a:buSzPct val="100000"/>
              <a:buChar char="•"/>
            </a:pPr>
            <a:r>
              <a:rPr b="1" lang="es-ES"/>
              <a:t>p-value = 0.407</a:t>
            </a:r>
            <a:endParaRPr/>
          </a:p>
          <a:p>
            <a:pPr indent="0" lvl="0" marL="0" rtl="0" algn="l">
              <a:lnSpc>
                <a:spcPct val="115000"/>
              </a:lnSpc>
              <a:spcBef>
                <a:spcPts val="1000"/>
              </a:spcBef>
              <a:spcAft>
                <a:spcPts val="0"/>
              </a:spcAft>
              <a:buClr>
                <a:schemeClr val="dk1"/>
              </a:buClr>
              <a:buSzPct val="100000"/>
              <a:buNone/>
            </a:pPr>
            <a:r>
              <a:rPr b="1" lang="es-ES"/>
              <a:t>No hay diferencias significativas de Profit entre segmentos.</a:t>
            </a:r>
            <a:endParaRPr b="0"/>
          </a:p>
          <a:p>
            <a:pPr indent="0" lvl="0" marL="0" rtl="0" algn="l">
              <a:lnSpc>
                <a:spcPct val="115000"/>
              </a:lnSpc>
              <a:spcBef>
                <a:spcPts val="1000"/>
              </a:spcBef>
              <a:spcAft>
                <a:spcPts val="0"/>
              </a:spcAft>
              <a:buClr>
                <a:schemeClr val="dk1"/>
              </a:buClr>
              <a:buSzPct val="100000"/>
              <a:buNone/>
            </a:pPr>
            <a:r>
              <a:rPr lang="es-ES" cap="small"/>
              <a:t>3. Tukey post-hoc</a:t>
            </a:r>
            <a:endParaRPr b="0"/>
          </a:p>
          <a:p>
            <a:pPr indent="0" lvl="0" marL="0" rtl="0" algn="l">
              <a:lnSpc>
                <a:spcPct val="115000"/>
              </a:lnSpc>
              <a:spcBef>
                <a:spcPts val="1000"/>
              </a:spcBef>
              <a:spcAft>
                <a:spcPts val="0"/>
              </a:spcAft>
              <a:buClr>
                <a:schemeClr val="dk1"/>
              </a:buClr>
              <a:buSzPct val="100000"/>
              <a:buNone/>
            </a:pPr>
            <a:r>
              <a:rPr lang="es-ES"/>
              <a:t>Tampoco muestra diferencias significativas.</a:t>
            </a:r>
            <a:endParaRPr b="0"/>
          </a:p>
          <a:p>
            <a:pPr indent="0" lvl="0" marL="0" rtl="0" algn="l">
              <a:lnSpc>
                <a:spcPct val="115000"/>
              </a:lnSpc>
              <a:spcBef>
                <a:spcPts val="1000"/>
              </a:spcBef>
              <a:spcAft>
                <a:spcPts val="0"/>
              </a:spcAft>
              <a:buClr>
                <a:schemeClr val="dk1"/>
              </a:buClr>
              <a:buSzPct val="100000"/>
              <a:buNone/>
            </a:pPr>
            <a:r>
              <a:rPr lang="es-ES" cap="small"/>
              <a:t>4. Conclusión del ANOVA</a:t>
            </a:r>
            <a:endParaRPr b="0"/>
          </a:p>
          <a:p>
            <a:pPr indent="0" lvl="0" marL="0" rtl="0" algn="l">
              <a:lnSpc>
                <a:spcPct val="115000"/>
              </a:lnSpc>
              <a:spcBef>
                <a:spcPts val="1000"/>
              </a:spcBef>
              <a:spcAft>
                <a:spcPts val="0"/>
              </a:spcAft>
              <a:buClr>
                <a:schemeClr val="dk1"/>
              </a:buClr>
              <a:buSzPct val="100000"/>
              <a:buNone/>
            </a:pPr>
            <a:r>
              <a:rPr lang="es-ES"/>
              <a:t>El segmento del cliente </a:t>
            </a:r>
            <a:r>
              <a:rPr b="1" lang="es-ES"/>
              <a:t>no influye</a:t>
            </a:r>
            <a:r>
              <a:rPr lang="es-ES"/>
              <a:t> en la rentabilidad.</a:t>
            </a:r>
            <a:br>
              <a:rPr lang="es-ES"/>
            </a:br>
            <a:r>
              <a:rPr lang="es-ES"/>
              <a:t>Por lo tanto, </a:t>
            </a:r>
            <a:r>
              <a:rPr b="1" lang="es-ES"/>
              <a:t>Segment no será un predictor importante</a:t>
            </a:r>
            <a:r>
              <a:rPr lang="es-ES"/>
              <a:t> en el modelo de regresión.</a:t>
            </a:r>
            <a:endParaRPr b="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0F4761"/>
              </a:buClr>
              <a:buSzPts val="3600"/>
              <a:buFont typeface="Times New Roman"/>
              <a:buNone/>
            </a:pPr>
            <a:r>
              <a:rPr lang="es-ES" sz="3600">
                <a:solidFill>
                  <a:srgbClr val="0F4761"/>
                </a:solidFill>
                <a:latin typeface="Times New Roman"/>
                <a:ea typeface="Times New Roman"/>
                <a:cs typeface="Times New Roman"/>
                <a:sym typeface="Times New Roman"/>
              </a:rPr>
              <a:t>B. Regresión Múltiple (Modelo Base)</a:t>
            </a:r>
            <a:endParaRPr/>
          </a:p>
        </p:txBody>
      </p:sp>
      <p:sp>
        <p:nvSpPr>
          <p:cNvPr id="177" name="Google Shape;177;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15000"/>
              </a:lnSpc>
              <a:spcBef>
                <a:spcPts val="0"/>
              </a:spcBef>
              <a:spcAft>
                <a:spcPts val="0"/>
              </a:spcAft>
              <a:buClr>
                <a:schemeClr val="dk1"/>
              </a:buClr>
              <a:buSzPct val="100000"/>
              <a:buNone/>
            </a:pPr>
            <a:r>
              <a:rPr lang="es-ES"/>
              <a:t>Se ajustó un modelo con predictoras principales:</a:t>
            </a:r>
            <a:endParaRPr b="0"/>
          </a:p>
          <a:p>
            <a:pPr indent="0" lvl="0" marL="0" rtl="0" algn="l">
              <a:lnSpc>
                <a:spcPct val="115000"/>
              </a:lnSpc>
              <a:spcBef>
                <a:spcPts val="1000"/>
              </a:spcBef>
              <a:spcAft>
                <a:spcPts val="0"/>
              </a:spcAft>
              <a:buClr>
                <a:schemeClr val="dk1"/>
              </a:buClr>
              <a:buSzPct val="100000"/>
              <a:buNone/>
            </a:pPr>
            <a:r>
              <a:rPr lang="es-ES"/>
              <a:t>profit ~ sales + discount + quantity + segment + región</a:t>
            </a:r>
            <a:endParaRPr/>
          </a:p>
          <a:p>
            <a:pPr indent="0" lvl="0" marL="0" rtl="0" algn="l">
              <a:lnSpc>
                <a:spcPct val="115000"/>
              </a:lnSpc>
              <a:spcBef>
                <a:spcPts val="1000"/>
              </a:spcBef>
              <a:spcAft>
                <a:spcPts val="0"/>
              </a:spcAft>
              <a:buClr>
                <a:schemeClr val="dk1"/>
              </a:buClr>
              <a:buSzPct val="100000"/>
              <a:buNone/>
            </a:pPr>
            <a:r>
              <a:t/>
            </a:r>
            <a:endParaRPr b="0"/>
          </a:p>
          <a:p>
            <a:pPr indent="0" lvl="0" marL="0" rtl="0" algn="l">
              <a:lnSpc>
                <a:spcPct val="115000"/>
              </a:lnSpc>
              <a:spcBef>
                <a:spcPts val="1000"/>
              </a:spcBef>
              <a:spcAft>
                <a:spcPts val="0"/>
              </a:spcAft>
              <a:buClr>
                <a:schemeClr val="dk1"/>
              </a:buClr>
              <a:buSzPct val="100000"/>
              <a:buNone/>
            </a:pPr>
            <a:r>
              <a:rPr lang="es-ES" cap="small"/>
              <a:t>Resultados clave</a:t>
            </a:r>
            <a:endParaRPr b="0"/>
          </a:p>
          <a:p>
            <a:pPr indent="-201930" lvl="0" marL="228600" rtl="0" algn="l">
              <a:lnSpc>
                <a:spcPct val="115000"/>
              </a:lnSpc>
              <a:spcBef>
                <a:spcPts val="1000"/>
              </a:spcBef>
              <a:spcAft>
                <a:spcPts val="0"/>
              </a:spcAft>
              <a:buClr>
                <a:schemeClr val="dk1"/>
              </a:buClr>
              <a:buSzPct val="100000"/>
              <a:buChar char="•"/>
            </a:pPr>
            <a:r>
              <a:rPr b="1" lang="es-ES"/>
              <a:t>sales</a:t>
            </a:r>
            <a:r>
              <a:rPr lang="es-ES"/>
              <a:t>: coeficiente positivo fuerte → más ventas, más profit.</a:t>
            </a:r>
            <a:endParaRPr/>
          </a:p>
          <a:p>
            <a:pPr indent="-201930" lvl="0" marL="228600" rtl="0" algn="l">
              <a:lnSpc>
                <a:spcPct val="115000"/>
              </a:lnSpc>
              <a:spcBef>
                <a:spcPts val="1000"/>
              </a:spcBef>
              <a:spcAft>
                <a:spcPts val="0"/>
              </a:spcAft>
              <a:buClr>
                <a:schemeClr val="dk1"/>
              </a:buClr>
              <a:buSzPct val="100000"/>
              <a:buChar char="•"/>
            </a:pPr>
            <a:r>
              <a:rPr b="1" lang="es-ES"/>
              <a:t>discount</a:t>
            </a:r>
            <a:r>
              <a:rPr lang="es-ES"/>
              <a:t>: coeficiente muy negativo → descuentos reducen gravemente el profit.</a:t>
            </a:r>
            <a:endParaRPr/>
          </a:p>
          <a:p>
            <a:pPr indent="-201930" lvl="0" marL="228600" rtl="0" algn="l">
              <a:lnSpc>
                <a:spcPct val="115000"/>
              </a:lnSpc>
              <a:spcBef>
                <a:spcPts val="1000"/>
              </a:spcBef>
              <a:spcAft>
                <a:spcPts val="0"/>
              </a:spcAft>
              <a:buClr>
                <a:schemeClr val="dk1"/>
              </a:buClr>
              <a:buSzPct val="100000"/>
              <a:buChar char="•"/>
            </a:pPr>
            <a:r>
              <a:rPr b="1" lang="es-ES"/>
              <a:t>quantity</a:t>
            </a:r>
            <a:r>
              <a:rPr lang="es-ES"/>
              <a:t>: coeficiente negativo leve.</a:t>
            </a:r>
            <a:endParaRPr/>
          </a:p>
          <a:p>
            <a:pPr indent="-201930" lvl="0" marL="228600" rtl="0" algn="l">
              <a:lnSpc>
                <a:spcPct val="115000"/>
              </a:lnSpc>
              <a:spcBef>
                <a:spcPts val="1000"/>
              </a:spcBef>
              <a:spcAft>
                <a:spcPts val="0"/>
              </a:spcAft>
              <a:buClr>
                <a:schemeClr val="dk1"/>
              </a:buClr>
              <a:buSzPct val="100000"/>
              <a:buChar char="•"/>
            </a:pPr>
            <a:r>
              <a:rPr b="1" lang="es-ES"/>
              <a:t>segment</a:t>
            </a:r>
            <a:r>
              <a:rPr lang="es-ES"/>
              <a:t>: no significativo.</a:t>
            </a:r>
            <a:endParaRPr/>
          </a:p>
          <a:p>
            <a:pPr indent="-201930" lvl="0" marL="228600" rtl="0" algn="l">
              <a:lnSpc>
                <a:spcPct val="115000"/>
              </a:lnSpc>
              <a:spcBef>
                <a:spcPts val="1000"/>
              </a:spcBef>
              <a:spcAft>
                <a:spcPts val="0"/>
              </a:spcAft>
              <a:buClr>
                <a:schemeClr val="dk1"/>
              </a:buClr>
              <a:buSzPct val="100000"/>
              <a:buChar char="•"/>
            </a:pPr>
            <a:r>
              <a:rPr b="1" lang="es-ES"/>
              <a:t>región</a:t>
            </a:r>
            <a:r>
              <a:rPr lang="es-ES"/>
              <a:t>: algunas regiones tienen menor profit que Central.</a:t>
            </a:r>
            <a:endParaRPr/>
          </a:p>
          <a:p>
            <a:pPr indent="0" lvl="0" marL="0" rtl="0" algn="l">
              <a:lnSpc>
                <a:spcPct val="115000"/>
              </a:lnSpc>
              <a:spcBef>
                <a:spcPts val="1000"/>
              </a:spcBef>
              <a:spcAft>
                <a:spcPts val="0"/>
              </a:spcAft>
              <a:buClr>
                <a:schemeClr val="dk1"/>
              </a:buClr>
              <a:buSzPct val="100000"/>
              <a:buNone/>
            </a:pPr>
            <a:r>
              <a:t/>
            </a:r>
            <a:endParaRPr b="1"/>
          </a:p>
          <a:p>
            <a:pPr indent="0" lvl="0" marL="0" rtl="0" algn="l">
              <a:lnSpc>
                <a:spcPct val="115000"/>
              </a:lnSpc>
              <a:spcBef>
                <a:spcPts val="1000"/>
              </a:spcBef>
              <a:spcAft>
                <a:spcPts val="0"/>
              </a:spcAft>
              <a:buClr>
                <a:schemeClr val="dk1"/>
              </a:buClr>
              <a:buSzPct val="100000"/>
              <a:buNone/>
            </a:pPr>
            <a:r>
              <a:rPr b="1" lang="es-ES"/>
              <a:t>R² ajustado = 0.27</a:t>
            </a:r>
            <a:endParaRPr b="0"/>
          </a:p>
          <a:p>
            <a:pPr indent="-201930" lvl="0" marL="228600" rtl="0" algn="l">
              <a:lnSpc>
                <a:spcPct val="115000"/>
              </a:lnSpc>
              <a:spcBef>
                <a:spcPts val="1000"/>
              </a:spcBef>
              <a:spcAft>
                <a:spcPts val="0"/>
              </a:spcAft>
              <a:buClr>
                <a:schemeClr val="dk1"/>
              </a:buClr>
              <a:buSzPct val="100000"/>
              <a:buChar char="•"/>
            </a:pPr>
            <a:r>
              <a:rPr lang="es-ES"/>
              <a:t>El modelo explica el 27% del Profit.</a:t>
            </a:r>
            <a:endParaRPr b="0"/>
          </a:p>
          <a:p>
            <a:pPr indent="0" lvl="0" marL="0" rtl="0" algn="l">
              <a:lnSpc>
                <a:spcPct val="90000"/>
              </a:lnSpc>
              <a:spcBef>
                <a:spcPts val="1000"/>
              </a:spcBef>
              <a:spcAft>
                <a:spcPts val="0"/>
              </a:spcAft>
              <a:buClr>
                <a:schemeClr val="dk1"/>
              </a:buClr>
              <a:buSzPct val="100000"/>
              <a:buNone/>
            </a:pPr>
            <a:br>
              <a:rPr lang="es-ES"/>
            </a:br>
            <a:endParaRPr b="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F4761"/>
              </a:buClr>
              <a:buSzPts val="3600"/>
              <a:buFont typeface="Times New Roman"/>
              <a:buNone/>
            </a:pPr>
            <a:r>
              <a:rPr lang="es-ES" sz="3600">
                <a:solidFill>
                  <a:srgbClr val="0F4761"/>
                </a:solidFill>
                <a:latin typeface="Times New Roman"/>
                <a:ea typeface="Times New Roman"/>
                <a:cs typeface="Times New Roman"/>
                <a:sym typeface="Times New Roman"/>
              </a:rPr>
              <a:t>C. Modelo Mejorado</a:t>
            </a:r>
            <a:endParaRPr/>
          </a:p>
        </p:txBody>
      </p:sp>
      <p:sp>
        <p:nvSpPr>
          <p:cNvPr id="183" name="Google Shape;183;p15"/>
          <p:cNvSpPr txBox="1"/>
          <p:nvPr>
            <p:ph idx="1" type="body"/>
          </p:nvPr>
        </p:nvSpPr>
        <p:spPr>
          <a:xfrm>
            <a:off x="838200" y="1825625"/>
            <a:ext cx="4712208" cy="4351338"/>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15000"/>
              </a:lnSpc>
              <a:spcBef>
                <a:spcPts val="0"/>
              </a:spcBef>
              <a:spcAft>
                <a:spcPts val="0"/>
              </a:spcAft>
              <a:buClr>
                <a:schemeClr val="dk1"/>
              </a:buClr>
              <a:buSzPct val="100000"/>
              <a:buNone/>
            </a:pPr>
            <a:r>
              <a:rPr lang="es-ES"/>
              <a:t>Se incorporaron variables estructurales adicionales:</a:t>
            </a:r>
            <a:endParaRPr b="0"/>
          </a:p>
          <a:p>
            <a:pPr indent="0" lvl="0" marL="0" rtl="0" algn="l">
              <a:lnSpc>
                <a:spcPct val="115000"/>
              </a:lnSpc>
              <a:spcBef>
                <a:spcPts val="1000"/>
              </a:spcBef>
              <a:spcAft>
                <a:spcPts val="0"/>
              </a:spcAft>
              <a:buClr>
                <a:schemeClr val="dk1"/>
              </a:buClr>
              <a:buSzPct val="100000"/>
              <a:buNone/>
            </a:pPr>
            <a:r>
              <a:rPr lang="es-ES"/>
              <a:t>profit ~ sales + discount + quantity + margin_pct + category + sub_category + region + year</a:t>
            </a:r>
            <a:endParaRPr/>
          </a:p>
          <a:p>
            <a:pPr indent="0" lvl="0" marL="0" rtl="0" algn="l">
              <a:lnSpc>
                <a:spcPct val="115000"/>
              </a:lnSpc>
              <a:spcBef>
                <a:spcPts val="1000"/>
              </a:spcBef>
              <a:spcAft>
                <a:spcPts val="0"/>
              </a:spcAft>
              <a:buClr>
                <a:schemeClr val="dk1"/>
              </a:buClr>
              <a:buSzPct val="100000"/>
              <a:buNone/>
            </a:pPr>
            <a:r>
              <a:t/>
            </a:r>
            <a:endParaRPr b="0"/>
          </a:p>
          <a:p>
            <a:pPr indent="0" lvl="0" marL="0" rtl="0" algn="l">
              <a:lnSpc>
                <a:spcPct val="115000"/>
              </a:lnSpc>
              <a:spcBef>
                <a:spcPts val="1000"/>
              </a:spcBef>
              <a:spcAft>
                <a:spcPts val="0"/>
              </a:spcAft>
              <a:buClr>
                <a:schemeClr val="dk1"/>
              </a:buClr>
              <a:buSzPct val="100000"/>
              <a:buNone/>
            </a:pPr>
            <a:r>
              <a:rPr lang="es-ES" cap="small"/>
              <a:t>Resultados clave</a:t>
            </a:r>
            <a:endParaRPr b="0"/>
          </a:p>
          <a:p>
            <a:pPr indent="-215265" lvl="0" marL="228600" rtl="0" algn="l">
              <a:lnSpc>
                <a:spcPct val="115000"/>
              </a:lnSpc>
              <a:spcBef>
                <a:spcPts val="1000"/>
              </a:spcBef>
              <a:spcAft>
                <a:spcPts val="0"/>
              </a:spcAft>
              <a:buClr>
                <a:schemeClr val="dk1"/>
              </a:buClr>
              <a:buSzPct val="155555"/>
              <a:buChar char="•"/>
            </a:pPr>
            <a:r>
              <a:rPr b="1" lang="es-ES"/>
              <a:t>R² ajustado = 0.3366</a:t>
            </a:r>
            <a:r>
              <a:rPr lang="es-ES"/>
              <a:t> → mejora real respecto al modelo base.</a:t>
            </a:r>
            <a:endParaRPr sz="1800"/>
          </a:p>
          <a:p>
            <a:pPr indent="-215265" lvl="0" marL="228600" rtl="0" algn="l">
              <a:lnSpc>
                <a:spcPct val="115000"/>
              </a:lnSpc>
              <a:spcBef>
                <a:spcPts val="1000"/>
              </a:spcBef>
              <a:spcAft>
                <a:spcPts val="0"/>
              </a:spcAft>
              <a:buClr>
                <a:schemeClr val="dk1"/>
              </a:buClr>
              <a:buSzPct val="155555"/>
              <a:buChar char="•"/>
            </a:pPr>
            <a:r>
              <a:rPr lang="es-ES"/>
              <a:t>Variables más influyentes:</a:t>
            </a:r>
            <a:endParaRPr sz="1800"/>
          </a:p>
          <a:p>
            <a:pPr indent="-217170" lvl="1" marL="685800" rtl="0" algn="l">
              <a:lnSpc>
                <a:spcPct val="115000"/>
              </a:lnSpc>
              <a:spcBef>
                <a:spcPts val="500"/>
              </a:spcBef>
              <a:spcAft>
                <a:spcPts val="0"/>
              </a:spcAft>
              <a:buClr>
                <a:schemeClr val="dk1"/>
              </a:buClr>
              <a:buSzPct val="150000"/>
              <a:buChar char="•"/>
            </a:pPr>
            <a:r>
              <a:rPr lang="es-ES"/>
              <a:t>sales (muy positiva)</a:t>
            </a:r>
            <a:endParaRPr sz="1600"/>
          </a:p>
          <a:p>
            <a:pPr indent="-217170" lvl="1" marL="685800" rtl="0" algn="l">
              <a:lnSpc>
                <a:spcPct val="115000"/>
              </a:lnSpc>
              <a:spcBef>
                <a:spcPts val="500"/>
              </a:spcBef>
              <a:spcAft>
                <a:spcPts val="0"/>
              </a:spcAft>
              <a:buClr>
                <a:schemeClr val="dk1"/>
              </a:buClr>
              <a:buSzPct val="150000"/>
              <a:buChar char="•"/>
            </a:pPr>
            <a:r>
              <a:rPr lang="es-ES"/>
              <a:t>discount (muy negativa)</a:t>
            </a:r>
            <a:endParaRPr sz="1600"/>
          </a:p>
          <a:p>
            <a:pPr indent="-217170" lvl="1" marL="685800" rtl="0" algn="l">
              <a:lnSpc>
                <a:spcPct val="115000"/>
              </a:lnSpc>
              <a:spcBef>
                <a:spcPts val="500"/>
              </a:spcBef>
              <a:spcAft>
                <a:spcPts val="0"/>
              </a:spcAft>
              <a:buClr>
                <a:schemeClr val="dk1"/>
              </a:buClr>
              <a:buSzPct val="150000"/>
              <a:buChar char="•"/>
            </a:pPr>
            <a:r>
              <a:rPr lang="es-ES"/>
              <a:t>margin_pct (positiva)</a:t>
            </a:r>
            <a:endParaRPr sz="1600"/>
          </a:p>
          <a:p>
            <a:pPr indent="-217170" lvl="1" marL="685800" rtl="0" algn="l">
              <a:lnSpc>
                <a:spcPct val="115000"/>
              </a:lnSpc>
              <a:spcBef>
                <a:spcPts val="500"/>
              </a:spcBef>
              <a:spcAft>
                <a:spcPts val="0"/>
              </a:spcAft>
              <a:buClr>
                <a:schemeClr val="dk1"/>
              </a:buClr>
              <a:buSzPct val="150000"/>
              <a:buChar char="•"/>
            </a:pPr>
            <a:r>
              <a:rPr lang="es-ES"/>
              <a:t>category y sub_category (importantes diferencias entre productos)</a:t>
            </a:r>
            <a:endParaRPr sz="1600"/>
          </a:p>
          <a:p>
            <a:pPr indent="-217170" lvl="1" marL="685800" rtl="0" algn="l">
              <a:lnSpc>
                <a:spcPct val="115000"/>
              </a:lnSpc>
              <a:spcBef>
                <a:spcPts val="500"/>
              </a:spcBef>
              <a:spcAft>
                <a:spcPts val="0"/>
              </a:spcAft>
              <a:buClr>
                <a:schemeClr val="dk1"/>
              </a:buClr>
              <a:buSzPct val="150000"/>
              <a:buChar char="•"/>
            </a:pPr>
            <a:r>
              <a:rPr lang="es-ES"/>
              <a:t>region</a:t>
            </a:r>
            <a:endParaRPr sz="1600"/>
          </a:p>
          <a:p>
            <a:pPr indent="-215265" lvl="0" marL="228600" rtl="0" algn="l">
              <a:lnSpc>
                <a:spcPct val="115000"/>
              </a:lnSpc>
              <a:spcBef>
                <a:spcPts val="1000"/>
              </a:spcBef>
              <a:spcAft>
                <a:spcPts val="0"/>
              </a:spcAft>
              <a:buClr>
                <a:schemeClr val="dk1"/>
              </a:buClr>
              <a:buSzPct val="155555"/>
              <a:buChar char="•"/>
            </a:pPr>
            <a:r>
              <a:rPr lang="es-ES"/>
              <a:t>Variables no significativas:</a:t>
            </a:r>
            <a:endParaRPr sz="1800"/>
          </a:p>
          <a:p>
            <a:pPr indent="-217170" lvl="1" marL="685800" rtl="0" algn="l">
              <a:lnSpc>
                <a:spcPct val="115000"/>
              </a:lnSpc>
              <a:spcBef>
                <a:spcPts val="500"/>
              </a:spcBef>
              <a:spcAft>
                <a:spcPts val="0"/>
              </a:spcAft>
              <a:buClr>
                <a:schemeClr val="dk1"/>
              </a:buClr>
              <a:buSzPct val="150000"/>
              <a:buChar char="•"/>
            </a:pPr>
            <a:r>
              <a:rPr lang="es-ES"/>
              <a:t>segment</a:t>
            </a:r>
            <a:endParaRPr sz="1600"/>
          </a:p>
          <a:p>
            <a:pPr indent="-217170" lvl="1" marL="685800" rtl="0" algn="l">
              <a:lnSpc>
                <a:spcPct val="115000"/>
              </a:lnSpc>
              <a:spcBef>
                <a:spcPts val="500"/>
              </a:spcBef>
              <a:spcAft>
                <a:spcPts val="0"/>
              </a:spcAft>
              <a:buClr>
                <a:schemeClr val="dk1"/>
              </a:buClr>
              <a:buSzPct val="150000"/>
              <a:buChar char="•"/>
            </a:pPr>
            <a:r>
              <a:rPr lang="es-ES"/>
              <a:t>year</a:t>
            </a:r>
            <a:endParaRPr sz="1600"/>
          </a:p>
        </p:txBody>
      </p:sp>
      <p:sp>
        <p:nvSpPr>
          <p:cNvPr id="184" name="Google Shape;184;p15"/>
          <p:cNvSpPr txBox="1"/>
          <p:nvPr/>
        </p:nvSpPr>
        <p:spPr>
          <a:xfrm>
            <a:off x="7317486" y="2634964"/>
            <a:ext cx="60944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cap="small">
                <a:solidFill>
                  <a:schemeClr val="dk1"/>
                </a:solidFill>
                <a:latin typeface="Arial"/>
                <a:ea typeface="Arial"/>
                <a:cs typeface="Arial"/>
                <a:sym typeface="Arial"/>
              </a:rPr>
              <a:t>Comparación AIC/BIC</a:t>
            </a:r>
            <a:endParaRPr/>
          </a:p>
        </p:txBody>
      </p:sp>
      <p:pic>
        <p:nvPicPr>
          <p:cNvPr id="185" name="Google Shape;185;p15"/>
          <p:cNvPicPr preferRelativeResize="0"/>
          <p:nvPr/>
        </p:nvPicPr>
        <p:blipFill rotWithShape="1">
          <a:blip r:embed="rId3">
            <a:alphaModFix/>
          </a:blip>
          <a:srcRect b="0" l="0" r="0" t="0"/>
          <a:stretch/>
        </p:blipFill>
        <p:spPr>
          <a:xfrm>
            <a:off x="5341835" y="3004296"/>
            <a:ext cx="6391012" cy="199399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6"/>
          <p:cNvSpPr txBox="1"/>
          <p:nvPr>
            <p:ph idx="1" type="body"/>
          </p:nvPr>
        </p:nvSpPr>
        <p:spPr>
          <a:xfrm>
            <a:off x="838200" y="484632"/>
            <a:ext cx="10515600" cy="6199632"/>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115000"/>
              </a:lnSpc>
              <a:spcBef>
                <a:spcPts val="0"/>
              </a:spcBef>
              <a:spcAft>
                <a:spcPts val="0"/>
              </a:spcAft>
              <a:buClr>
                <a:schemeClr val="dk1"/>
              </a:buClr>
              <a:buSzPct val="100000"/>
              <a:buNone/>
            </a:pPr>
            <a:r>
              <a:rPr lang="es-ES"/>
              <a:t>La comparación mediante AIC y BIC muestra valores sustancialmente menores en el modelo mejorado (AIC = 133353 y BIC = 133555) en comparación con el modelo base (AIC = 134251 y BIC = 134323). Como ambos criterios penalizan la complejidad del modelo, una reducción tan grande indica que el modelo mejorado ofrece un ajuste significativamente superior sin sobreajustar. Por lo tanto, el modelo mejorado se considera claramente superior al modelo base.</a:t>
            </a:r>
            <a:br>
              <a:rPr b="0" lang="es-ES"/>
            </a:br>
            <a:endParaRPr b="0"/>
          </a:p>
          <a:p>
            <a:pPr indent="-215265" lvl="0" marL="228600" rtl="0" algn="l">
              <a:lnSpc>
                <a:spcPct val="115000"/>
              </a:lnSpc>
              <a:spcBef>
                <a:spcPts val="1000"/>
              </a:spcBef>
              <a:spcAft>
                <a:spcPts val="0"/>
              </a:spcAft>
              <a:buClr>
                <a:schemeClr val="dk1"/>
              </a:buClr>
              <a:buSzPct val="100000"/>
              <a:buChar char="•"/>
            </a:pPr>
            <a:r>
              <a:rPr b="1" lang="es-ES"/>
              <a:t>El modelo mejorado presenta valores AIC y BIC más bajos, lo cual indica mejor desempeño general, será el modelo utilizado para las conclusiones del TP.</a:t>
            </a:r>
            <a:br>
              <a:rPr b="0" lang="es-ES"/>
            </a:br>
            <a:br>
              <a:rPr b="0" lang="es-ES"/>
            </a:br>
            <a:endParaRPr b="0"/>
          </a:p>
          <a:p>
            <a:pPr indent="0" lvl="0" marL="0" rtl="0" algn="l">
              <a:lnSpc>
                <a:spcPct val="115000"/>
              </a:lnSpc>
              <a:spcBef>
                <a:spcPts val="1000"/>
              </a:spcBef>
              <a:spcAft>
                <a:spcPts val="0"/>
              </a:spcAft>
              <a:buClr>
                <a:schemeClr val="dk1"/>
              </a:buClr>
              <a:buSzPct val="100000"/>
              <a:buNone/>
            </a:pPr>
            <a:r>
              <a:rPr lang="es-ES"/>
              <a:t>Los diagnósticos del modelo fueron revisados mediante gráficos de residuos, QQ-plot, leverage y VIF, confirmando la validez del modelo final.</a:t>
            </a:r>
            <a:endParaRPr b="0"/>
          </a:p>
          <a:p>
            <a:pPr indent="0" lvl="0" marL="0" rtl="0" algn="l">
              <a:lnSpc>
                <a:spcPct val="115000"/>
              </a:lnSpc>
              <a:spcBef>
                <a:spcPts val="1000"/>
              </a:spcBef>
              <a:spcAft>
                <a:spcPts val="0"/>
              </a:spcAft>
              <a:buClr>
                <a:schemeClr val="dk1"/>
              </a:buClr>
              <a:buSzPct val="100000"/>
              <a:buNone/>
            </a:pPr>
            <a:br>
              <a:rPr b="0" lang="es-ES"/>
            </a:br>
            <a:endParaRPr b="0"/>
          </a:p>
          <a:p>
            <a:pPr indent="0" lvl="0" marL="0" rtl="0" algn="l">
              <a:lnSpc>
                <a:spcPct val="115000"/>
              </a:lnSpc>
              <a:spcBef>
                <a:spcPts val="1000"/>
              </a:spcBef>
              <a:spcAft>
                <a:spcPts val="0"/>
              </a:spcAft>
              <a:buClr>
                <a:schemeClr val="dk1"/>
              </a:buClr>
              <a:buSzPct val="100000"/>
              <a:buNone/>
            </a:pPr>
            <a:r>
              <a:rPr lang="es-ES" cap="small"/>
              <a:t>Conclusiones Generales</a:t>
            </a:r>
            <a:endParaRPr b="0"/>
          </a:p>
          <a:p>
            <a:pPr indent="-215265" lvl="0" marL="228600" rtl="0" algn="l">
              <a:lnSpc>
                <a:spcPct val="115000"/>
              </a:lnSpc>
              <a:spcBef>
                <a:spcPts val="1000"/>
              </a:spcBef>
              <a:spcAft>
                <a:spcPts val="0"/>
              </a:spcAft>
              <a:buClr>
                <a:schemeClr val="dk1"/>
              </a:buClr>
              <a:buSzPct val="100000"/>
              <a:buChar char="•"/>
            </a:pPr>
            <a:r>
              <a:rPr b="1" lang="es-ES"/>
              <a:t>Sales es el principal impulsor del Profit.</a:t>
            </a:r>
            <a:endParaRPr/>
          </a:p>
          <a:p>
            <a:pPr indent="-215265" lvl="0" marL="228600" rtl="0" algn="l">
              <a:lnSpc>
                <a:spcPct val="115000"/>
              </a:lnSpc>
              <a:spcBef>
                <a:spcPts val="1000"/>
              </a:spcBef>
              <a:spcAft>
                <a:spcPts val="0"/>
              </a:spcAft>
              <a:buClr>
                <a:schemeClr val="dk1"/>
              </a:buClr>
              <a:buSzPct val="100000"/>
              <a:buChar char="•"/>
            </a:pPr>
            <a:r>
              <a:rPr b="1" lang="es-ES"/>
              <a:t>El Discount reduce fuertemente la rentabilidad.</a:t>
            </a:r>
            <a:endParaRPr/>
          </a:p>
          <a:p>
            <a:pPr indent="-215265" lvl="0" marL="228600" rtl="0" algn="l">
              <a:lnSpc>
                <a:spcPct val="115000"/>
              </a:lnSpc>
              <a:spcBef>
                <a:spcPts val="1000"/>
              </a:spcBef>
              <a:spcAft>
                <a:spcPts val="0"/>
              </a:spcAft>
              <a:buClr>
                <a:schemeClr val="dk1"/>
              </a:buClr>
              <a:buSzPct val="100000"/>
              <a:buChar char="•"/>
            </a:pPr>
            <a:r>
              <a:rPr b="1" lang="es-ES"/>
              <a:t>El Segment del cliente no tiene efecto significativo.</a:t>
            </a:r>
            <a:endParaRPr/>
          </a:p>
          <a:p>
            <a:pPr indent="-215265" lvl="0" marL="228600" rtl="0" algn="l">
              <a:lnSpc>
                <a:spcPct val="115000"/>
              </a:lnSpc>
              <a:spcBef>
                <a:spcPts val="1000"/>
              </a:spcBef>
              <a:spcAft>
                <a:spcPts val="0"/>
              </a:spcAft>
              <a:buClr>
                <a:schemeClr val="dk1"/>
              </a:buClr>
              <a:buSzPct val="100000"/>
              <a:buChar char="•"/>
            </a:pPr>
            <a:r>
              <a:rPr b="1" lang="es-ES"/>
              <a:t>Ciertas categorías y subcategorías explican gran parte de las ganancias y pérdidas.</a:t>
            </a:r>
            <a:endParaRPr/>
          </a:p>
          <a:p>
            <a:pPr indent="-215265" lvl="0" marL="228600" rtl="0" algn="l">
              <a:lnSpc>
                <a:spcPct val="115000"/>
              </a:lnSpc>
              <a:spcBef>
                <a:spcPts val="1000"/>
              </a:spcBef>
              <a:spcAft>
                <a:spcPts val="0"/>
              </a:spcAft>
              <a:buClr>
                <a:schemeClr val="dk1"/>
              </a:buClr>
              <a:buSzPct val="100000"/>
              <a:buChar char="•"/>
            </a:pPr>
            <a:r>
              <a:rPr b="1" lang="es-ES"/>
              <a:t>El modelo mejorado explica ~34% de la variabilidad del profit</a:t>
            </a:r>
            <a:r>
              <a:rPr lang="es-ES"/>
              <a:t>, lo cual es adecuado para datos de retail.</a:t>
            </a:r>
            <a:endParaRPr/>
          </a:p>
          <a:p>
            <a:pPr indent="-215265" lvl="0" marL="228600" rtl="0" algn="l">
              <a:lnSpc>
                <a:spcPct val="115000"/>
              </a:lnSpc>
              <a:spcBef>
                <a:spcPts val="1000"/>
              </a:spcBef>
              <a:spcAft>
                <a:spcPts val="0"/>
              </a:spcAft>
              <a:buClr>
                <a:schemeClr val="dk1"/>
              </a:buClr>
              <a:buSzPct val="100000"/>
              <a:buChar char="•"/>
            </a:pPr>
            <a:r>
              <a:rPr b="1" lang="es-ES"/>
              <a:t>Los outliers influyen, pero representan casos reales del negocio y no deben eliminarse sin justificación.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595959"/>
              </a:buClr>
              <a:buSzPts val="4400"/>
              <a:buFont typeface="Times New Roman"/>
              <a:buNone/>
            </a:pPr>
            <a:r>
              <a:rPr b="1" i="0" lang="es-ES" u="none" strike="noStrike">
                <a:solidFill>
                  <a:srgbClr val="595959"/>
                </a:solidFill>
                <a:latin typeface="Times New Roman"/>
                <a:ea typeface="Times New Roman"/>
                <a:cs typeface="Times New Roman"/>
                <a:sym typeface="Times New Roman"/>
              </a:rPr>
              <a:t>Etapa 4 — Visualizaciones y Storytelling</a:t>
            </a:r>
            <a:endParaRPr b="1" i="0" u="none" strike="noStrike">
              <a:solidFill>
                <a:srgbClr val="595959"/>
              </a:solidFill>
              <a:latin typeface="Times New Roman"/>
              <a:ea typeface="Times New Roman"/>
              <a:cs typeface="Times New Roman"/>
              <a:sym typeface="Times New Roman"/>
            </a:endParaRPr>
          </a:p>
        </p:txBody>
      </p:sp>
      <p:sp>
        <p:nvSpPr>
          <p:cNvPr id="196" name="Google Shape;196;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15000"/>
              </a:lnSpc>
              <a:spcBef>
                <a:spcPts val="0"/>
              </a:spcBef>
              <a:spcAft>
                <a:spcPts val="0"/>
              </a:spcAft>
              <a:buClr>
                <a:schemeClr val="dk1"/>
              </a:buClr>
              <a:buSzPts val="2800"/>
              <a:buNone/>
            </a:pPr>
            <a:r>
              <a:rPr lang="es-ES"/>
              <a:t>En esta etapa se desarrolló un conjunto de visualizaciones que permiten comprender mejor el comportamiento de las ventas (</a:t>
            </a:r>
            <a:r>
              <a:rPr i="1" lang="es-ES"/>
              <a:t>Sales</a:t>
            </a:r>
            <a:r>
              <a:rPr lang="es-ES"/>
              <a:t>) y la rentabilidad (</a:t>
            </a:r>
            <a:r>
              <a:rPr i="1" lang="es-ES"/>
              <a:t>Profit</a:t>
            </a:r>
            <a:r>
              <a:rPr lang="es-ES"/>
              <a:t>) en el dataset de Superstore. El objetivo es comunicar hallazgos relevantes de forma clara, apoyándonos en gráficos descriptivos y comparativos.</a:t>
            </a:r>
            <a:endParaRPr/>
          </a:p>
          <a:p>
            <a:pPr indent="0" lvl="0" marL="0" rtl="0" algn="l">
              <a:lnSpc>
                <a:spcPct val="115000"/>
              </a:lnSpc>
              <a:spcBef>
                <a:spcPts val="1000"/>
              </a:spcBef>
              <a:spcAft>
                <a:spcPts val="0"/>
              </a:spcAft>
              <a:buClr>
                <a:schemeClr val="dk1"/>
              </a:buClr>
              <a:buSzPts val="2800"/>
              <a:buNone/>
            </a:pPr>
            <a:r>
              <a:t/>
            </a:r>
            <a:endParaRPr b="0"/>
          </a:p>
          <a:p>
            <a:pPr indent="0" lvl="0" marL="0" rtl="0" algn="l">
              <a:lnSpc>
                <a:spcPct val="115000"/>
              </a:lnSpc>
              <a:spcBef>
                <a:spcPts val="1000"/>
              </a:spcBef>
              <a:spcAft>
                <a:spcPts val="0"/>
              </a:spcAft>
              <a:buClr>
                <a:schemeClr val="dk1"/>
              </a:buClr>
              <a:buSzPts val="2800"/>
              <a:buNone/>
            </a:pPr>
            <a:r>
              <a:rPr lang="es-ES"/>
              <a:t>Cada visualización se generó con ggplot2 y se guardó dentro de la carpeta </a:t>
            </a:r>
            <a:r>
              <a:rPr b="1" lang="es-ES"/>
              <a:t>output/figures/</a:t>
            </a:r>
            <a:r>
              <a:rPr lang="es-ES"/>
              <a:t> para mantener una estructura ordenada del proyecto.</a:t>
            </a:r>
            <a:endParaRPr b="0" i="0" u="none" strike="noStrike">
              <a:solidFill>
                <a:srgbClr val="0F476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F4761"/>
              </a:buClr>
              <a:buSzPts val="3600"/>
              <a:buFont typeface="Times New Roman"/>
              <a:buNone/>
            </a:pPr>
            <a:r>
              <a:rPr lang="es-ES" sz="3600">
                <a:solidFill>
                  <a:srgbClr val="0F4761"/>
                </a:solidFill>
                <a:latin typeface="Times New Roman"/>
                <a:ea typeface="Times New Roman"/>
                <a:cs typeface="Times New Roman"/>
                <a:sym typeface="Times New Roman"/>
              </a:rPr>
              <a:t>1. Evolución temporal: Sales y Profit por mes y año</a:t>
            </a:r>
            <a:endParaRPr sz="3600">
              <a:solidFill>
                <a:srgbClr val="0F4761"/>
              </a:solidFill>
              <a:latin typeface="Times New Roman"/>
              <a:ea typeface="Times New Roman"/>
              <a:cs typeface="Times New Roman"/>
              <a:sym typeface="Times New Roman"/>
            </a:endParaRPr>
          </a:p>
        </p:txBody>
      </p:sp>
      <p:sp>
        <p:nvSpPr>
          <p:cNvPr id="202" name="Google Shape;202;p18"/>
          <p:cNvSpPr txBox="1"/>
          <p:nvPr>
            <p:ph idx="1" type="body"/>
          </p:nvPr>
        </p:nvSpPr>
        <p:spPr>
          <a:xfrm>
            <a:off x="838200" y="1408176"/>
            <a:ext cx="3907536" cy="4768787"/>
          </a:xfrm>
          <a:prstGeom prst="rect">
            <a:avLst/>
          </a:prstGeom>
          <a:noFill/>
          <a:ln>
            <a:noFill/>
          </a:ln>
        </p:spPr>
        <p:txBody>
          <a:bodyPr anchorCtr="0" anchor="t" bIns="45700" lIns="91425" spcFirstLastPara="1" rIns="91425" wrap="square" tIns="45700">
            <a:normAutofit fontScale="62500" lnSpcReduction="10000"/>
          </a:bodyPr>
          <a:lstStyle/>
          <a:p>
            <a:pPr indent="0" lvl="0" marL="0" rtl="0" algn="l">
              <a:lnSpc>
                <a:spcPct val="115000"/>
              </a:lnSpc>
              <a:spcBef>
                <a:spcPts val="0"/>
              </a:spcBef>
              <a:spcAft>
                <a:spcPts val="0"/>
              </a:spcAft>
              <a:buClr>
                <a:schemeClr val="dk1"/>
              </a:buClr>
              <a:buSzPct val="100000"/>
              <a:buNone/>
            </a:pPr>
            <a:r>
              <a:rPr lang="es-ES"/>
              <a:t>Se construyeron gráficos de líneas para visualizar cómo varían </a:t>
            </a:r>
            <a:r>
              <a:rPr i="1" lang="es-ES"/>
              <a:t>Sales</a:t>
            </a:r>
            <a:r>
              <a:rPr lang="es-ES"/>
              <a:t> y </a:t>
            </a:r>
            <a:r>
              <a:rPr i="1" lang="es-ES"/>
              <a:t>Profit</a:t>
            </a:r>
            <a:r>
              <a:rPr lang="es-ES"/>
              <a:t> a lo largo de los meses, comparando todos los años presentes en el dataset.</a:t>
            </a:r>
            <a:endParaRPr/>
          </a:p>
          <a:p>
            <a:pPr indent="0" lvl="0" marL="0" rtl="0" algn="l">
              <a:lnSpc>
                <a:spcPct val="115000"/>
              </a:lnSpc>
              <a:spcBef>
                <a:spcPts val="1000"/>
              </a:spcBef>
              <a:spcAft>
                <a:spcPts val="0"/>
              </a:spcAft>
              <a:buClr>
                <a:schemeClr val="dk1"/>
              </a:buClr>
              <a:buSzPct val="100000"/>
              <a:buNone/>
            </a:pPr>
            <a:r>
              <a:t/>
            </a:r>
            <a:endParaRPr b="0"/>
          </a:p>
          <a:p>
            <a:pPr indent="0" lvl="0" marL="0" rtl="0" algn="l">
              <a:lnSpc>
                <a:spcPct val="115000"/>
              </a:lnSpc>
              <a:spcBef>
                <a:spcPts val="1000"/>
              </a:spcBef>
              <a:spcAft>
                <a:spcPts val="0"/>
              </a:spcAft>
              <a:buClr>
                <a:schemeClr val="dk1"/>
              </a:buClr>
              <a:buSzPct val="100000"/>
              <a:buNone/>
            </a:pPr>
            <a:r>
              <a:rPr b="1" lang="es-ES"/>
              <a:t>Hallazgos principales:</a:t>
            </a:r>
            <a:endParaRPr b="0"/>
          </a:p>
          <a:p>
            <a:pPr indent="-201930" lvl="0" marL="228600" rtl="0" algn="l">
              <a:lnSpc>
                <a:spcPct val="115000"/>
              </a:lnSpc>
              <a:spcBef>
                <a:spcPts val="1000"/>
              </a:spcBef>
              <a:spcAft>
                <a:spcPts val="0"/>
              </a:spcAft>
              <a:buClr>
                <a:schemeClr val="dk1"/>
              </a:buClr>
              <a:buSzPct val="100000"/>
              <a:buChar char="•"/>
            </a:pPr>
            <a:r>
              <a:rPr lang="es-ES"/>
              <a:t>Diciembre muestra picos marcados en varios años.</a:t>
            </a:r>
            <a:endParaRPr/>
          </a:p>
          <a:p>
            <a:pPr indent="-201930" lvl="0" marL="228600" rtl="0" algn="l">
              <a:lnSpc>
                <a:spcPct val="115000"/>
              </a:lnSpc>
              <a:spcBef>
                <a:spcPts val="1000"/>
              </a:spcBef>
              <a:spcAft>
                <a:spcPts val="0"/>
              </a:spcAft>
              <a:buClr>
                <a:schemeClr val="dk1"/>
              </a:buClr>
              <a:buSzPct val="100000"/>
              <a:buChar char="•"/>
            </a:pPr>
            <a:r>
              <a:rPr lang="es-ES"/>
              <a:t>Hay estacionalidad: meses que caen sistemáticamente.</a:t>
            </a:r>
            <a:endParaRPr/>
          </a:p>
          <a:p>
            <a:pPr indent="-201930" lvl="0" marL="228600" rtl="0" algn="l">
              <a:lnSpc>
                <a:spcPct val="115000"/>
              </a:lnSpc>
              <a:spcBef>
                <a:spcPts val="1000"/>
              </a:spcBef>
              <a:spcAft>
                <a:spcPts val="0"/>
              </a:spcAft>
              <a:buClr>
                <a:schemeClr val="dk1"/>
              </a:buClr>
              <a:buSzPct val="100000"/>
              <a:buChar char="•"/>
            </a:pPr>
            <a:r>
              <a:rPr lang="es-ES"/>
              <a:t>La evolución difiere entre años → indica efectos externos (campañas, productos, descuentos).</a:t>
            </a:r>
            <a:endParaRPr/>
          </a:p>
        </p:txBody>
      </p:sp>
      <p:pic>
        <p:nvPicPr>
          <p:cNvPr id="203" name="Google Shape;203;p18"/>
          <p:cNvPicPr preferRelativeResize="0"/>
          <p:nvPr/>
        </p:nvPicPr>
        <p:blipFill rotWithShape="1">
          <a:blip r:embed="rId3">
            <a:alphaModFix/>
          </a:blip>
          <a:srcRect b="0" l="0" r="0" t="0"/>
          <a:stretch/>
        </p:blipFill>
        <p:spPr>
          <a:xfrm>
            <a:off x="4745736" y="1408176"/>
            <a:ext cx="7050169" cy="4401693"/>
          </a:xfrm>
          <a:prstGeom prst="rect">
            <a:avLst/>
          </a:prstGeom>
          <a:noFill/>
          <a:ln>
            <a:noFill/>
          </a:ln>
        </p:spPr>
      </p:pic>
      <p:sp>
        <p:nvSpPr>
          <p:cNvPr id="204" name="Google Shape;204;p18"/>
          <p:cNvSpPr txBox="1"/>
          <p:nvPr/>
        </p:nvSpPr>
        <p:spPr>
          <a:xfrm>
            <a:off x="5002530" y="5823246"/>
            <a:ext cx="609447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s-ES" sz="1400" u="none" strike="noStrike">
                <a:solidFill>
                  <a:srgbClr val="000000"/>
                </a:solidFill>
                <a:latin typeface="Arial"/>
                <a:ea typeface="Arial"/>
                <a:cs typeface="Arial"/>
                <a:sym typeface="Arial"/>
              </a:rPr>
              <a:t>Figura 1. Evolución de las ventas mensuales agregadas por año. La variación interanual permite identificar estacionalidad y picos de venta.</a:t>
            </a:r>
            <a:endParaRPr sz="1400">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p19"/>
          <p:cNvPicPr preferRelativeResize="0"/>
          <p:nvPr/>
        </p:nvPicPr>
        <p:blipFill rotWithShape="1">
          <a:blip r:embed="rId3">
            <a:alphaModFix/>
          </a:blip>
          <a:srcRect b="0" l="0" r="0" t="0"/>
          <a:stretch/>
        </p:blipFill>
        <p:spPr>
          <a:xfrm>
            <a:off x="1888283" y="340295"/>
            <a:ext cx="8415433" cy="5254080"/>
          </a:xfrm>
          <a:prstGeom prst="rect">
            <a:avLst/>
          </a:prstGeom>
          <a:noFill/>
          <a:ln>
            <a:noFill/>
          </a:ln>
        </p:spPr>
      </p:pic>
      <p:sp>
        <p:nvSpPr>
          <p:cNvPr id="210" name="Google Shape;210;p19"/>
          <p:cNvSpPr txBox="1"/>
          <p:nvPr/>
        </p:nvSpPr>
        <p:spPr>
          <a:xfrm>
            <a:off x="1975104" y="5801975"/>
            <a:ext cx="832861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s-ES" sz="1800" u="none" strike="noStrike">
                <a:solidFill>
                  <a:srgbClr val="000000"/>
                </a:solidFill>
                <a:latin typeface="Arial"/>
                <a:ea typeface="Arial"/>
                <a:cs typeface="Arial"/>
                <a:sym typeface="Arial"/>
              </a:rPr>
              <a:t>Figura 2. Evolución mensual de Profit agregadas por año. El profit muestra fluctuaciones mayores por la influencia del descuento y márgenes.</a:t>
            </a:r>
            <a:endParaRPr sz="1800">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F4761"/>
              </a:buClr>
              <a:buSzPts val="3600"/>
              <a:buFont typeface="Times New Roman"/>
              <a:buNone/>
            </a:pPr>
            <a:r>
              <a:rPr lang="es-ES" sz="3600">
                <a:solidFill>
                  <a:srgbClr val="0F4761"/>
                </a:solidFill>
                <a:latin typeface="Times New Roman"/>
                <a:ea typeface="Times New Roman"/>
                <a:cs typeface="Times New Roman"/>
                <a:sym typeface="Times New Roman"/>
              </a:rPr>
              <a:t>2. Distribución de Sales y Profit</a:t>
            </a:r>
            <a:endParaRPr sz="3600">
              <a:solidFill>
                <a:srgbClr val="0F4761"/>
              </a:solidFill>
              <a:latin typeface="Times New Roman"/>
              <a:ea typeface="Times New Roman"/>
              <a:cs typeface="Times New Roman"/>
              <a:sym typeface="Times New Roman"/>
            </a:endParaRPr>
          </a:p>
        </p:txBody>
      </p:sp>
      <p:sp>
        <p:nvSpPr>
          <p:cNvPr id="216" name="Google Shape;216;p20"/>
          <p:cNvSpPr txBox="1"/>
          <p:nvPr>
            <p:ph idx="1" type="body"/>
          </p:nvPr>
        </p:nvSpPr>
        <p:spPr>
          <a:xfrm>
            <a:off x="838200" y="1408176"/>
            <a:ext cx="3907536" cy="4768787"/>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115000"/>
              </a:lnSpc>
              <a:spcBef>
                <a:spcPts val="0"/>
              </a:spcBef>
              <a:spcAft>
                <a:spcPts val="0"/>
              </a:spcAft>
              <a:buClr>
                <a:schemeClr val="dk1"/>
              </a:buClr>
              <a:buSzPct val="100000"/>
              <a:buNone/>
            </a:pPr>
            <a:r>
              <a:rPr lang="es-ES"/>
              <a:t>Se generaron histogramas para examinar la distribución de ambas variables.</a:t>
            </a:r>
            <a:endParaRPr b="0"/>
          </a:p>
          <a:p>
            <a:pPr indent="0" lvl="0" marL="0" rtl="0" algn="l">
              <a:lnSpc>
                <a:spcPct val="115000"/>
              </a:lnSpc>
              <a:spcBef>
                <a:spcPts val="1000"/>
              </a:spcBef>
              <a:spcAft>
                <a:spcPts val="0"/>
              </a:spcAft>
              <a:buClr>
                <a:schemeClr val="dk1"/>
              </a:buClr>
              <a:buSzPct val="100000"/>
              <a:buNone/>
            </a:pPr>
            <a:r>
              <a:rPr b="1" lang="es-ES"/>
              <a:t>Conclusiones:</a:t>
            </a:r>
            <a:endParaRPr b="0"/>
          </a:p>
          <a:p>
            <a:pPr indent="-215265" lvl="0" marL="228600" rtl="0" algn="l">
              <a:lnSpc>
                <a:spcPct val="115000"/>
              </a:lnSpc>
              <a:spcBef>
                <a:spcPts val="1000"/>
              </a:spcBef>
              <a:spcAft>
                <a:spcPts val="0"/>
              </a:spcAft>
              <a:buClr>
                <a:schemeClr val="dk1"/>
              </a:buClr>
              <a:buSzPct val="100000"/>
              <a:buChar char="•"/>
            </a:pPr>
            <a:r>
              <a:rPr i="1" lang="es-ES"/>
              <a:t>Sales</a:t>
            </a:r>
            <a:r>
              <a:rPr lang="es-ES"/>
              <a:t> está fuertemente sesgada → muchas ventas pequeñas, pocas muy grandes.</a:t>
            </a:r>
            <a:endParaRPr/>
          </a:p>
          <a:p>
            <a:pPr indent="-215265" lvl="0" marL="228600" rtl="0" algn="l">
              <a:lnSpc>
                <a:spcPct val="115000"/>
              </a:lnSpc>
              <a:spcBef>
                <a:spcPts val="1000"/>
              </a:spcBef>
              <a:spcAft>
                <a:spcPts val="0"/>
              </a:spcAft>
              <a:buClr>
                <a:schemeClr val="dk1"/>
              </a:buClr>
              <a:buSzPct val="100000"/>
              <a:buChar char="•"/>
            </a:pPr>
            <a:r>
              <a:rPr i="1" lang="es-ES"/>
              <a:t>Profit</a:t>
            </a:r>
            <a:r>
              <a:rPr lang="es-ES"/>
              <a:t> incluye valores negativos → descuentos agresivos o productos de bajo margen.</a:t>
            </a:r>
            <a:endParaRPr/>
          </a:p>
          <a:p>
            <a:pPr indent="-117475" lvl="0" marL="228600" rtl="0" algn="l">
              <a:lnSpc>
                <a:spcPct val="115000"/>
              </a:lnSpc>
              <a:spcBef>
                <a:spcPts val="1000"/>
              </a:spcBef>
              <a:spcAft>
                <a:spcPts val="0"/>
              </a:spcAft>
              <a:buClr>
                <a:schemeClr val="dk1"/>
              </a:buClr>
              <a:buSzPct val="100000"/>
              <a:buNone/>
            </a:pPr>
            <a:r>
              <a:t/>
            </a:r>
            <a:endParaRPr/>
          </a:p>
          <a:p>
            <a:pPr indent="0" lvl="0" marL="0" rtl="0" algn="l">
              <a:lnSpc>
                <a:spcPct val="115000"/>
              </a:lnSpc>
              <a:spcBef>
                <a:spcPts val="1000"/>
              </a:spcBef>
              <a:spcAft>
                <a:spcPts val="0"/>
              </a:spcAft>
              <a:buClr>
                <a:schemeClr val="dk1"/>
              </a:buClr>
              <a:buSzPct val="100000"/>
              <a:buNone/>
            </a:pPr>
            <a:r>
              <a:rPr lang="es-ES"/>
              <a:t>Estas distribuciones justifican la necesidad de:</a:t>
            </a:r>
            <a:endParaRPr b="0"/>
          </a:p>
          <a:p>
            <a:pPr indent="-215265" lvl="0" marL="228600" rtl="0" algn="l">
              <a:lnSpc>
                <a:spcPct val="115000"/>
              </a:lnSpc>
              <a:spcBef>
                <a:spcPts val="1000"/>
              </a:spcBef>
              <a:spcAft>
                <a:spcPts val="0"/>
              </a:spcAft>
              <a:buClr>
                <a:schemeClr val="dk1"/>
              </a:buClr>
              <a:buSzPct val="100000"/>
              <a:buChar char="•"/>
            </a:pPr>
            <a:r>
              <a:rPr lang="es-ES"/>
              <a:t>Usar métricas robustas (como mediana o rangos).</a:t>
            </a:r>
            <a:endParaRPr/>
          </a:p>
          <a:p>
            <a:pPr indent="-215265" lvl="0" marL="228600" rtl="0" algn="l">
              <a:lnSpc>
                <a:spcPct val="115000"/>
              </a:lnSpc>
              <a:spcBef>
                <a:spcPts val="1000"/>
              </a:spcBef>
              <a:spcAft>
                <a:spcPts val="0"/>
              </a:spcAft>
              <a:buClr>
                <a:schemeClr val="dk1"/>
              </a:buClr>
              <a:buSzPct val="100000"/>
              <a:buChar char="•"/>
            </a:pPr>
            <a:r>
              <a:rPr lang="es-ES"/>
              <a:t>Cuidar los supuestos de normalidad en modelos posteriores.</a:t>
            </a:r>
            <a:endParaRPr/>
          </a:p>
        </p:txBody>
      </p:sp>
      <p:sp>
        <p:nvSpPr>
          <p:cNvPr id="217" name="Google Shape;217;p20"/>
          <p:cNvSpPr txBox="1"/>
          <p:nvPr/>
        </p:nvSpPr>
        <p:spPr>
          <a:xfrm>
            <a:off x="5002530" y="5823246"/>
            <a:ext cx="609447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ES" sz="1400">
                <a:solidFill>
                  <a:srgbClr val="000000"/>
                </a:solidFill>
                <a:latin typeface="Arial"/>
                <a:ea typeface="Arial"/>
                <a:cs typeface="Arial"/>
                <a:sym typeface="Arial"/>
              </a:rPr>
              <a:t>Figura 3. Distribución de Sales. Se observa una fuerte concentración en valores bajos y pocos montos elevados.</a:t>
            </a:r>
            <a:endParaRPr sz="1400">
              <a:solidFill>
                <a:schemeClr val="dk1"/>
              </a:solidFill>
              <a:latin typeface="Arial"/>
              <a:ea typeface="Arial"/>
              <a:cs typeface="Arial"/>
              <a:sym typeface="Arial"/>
            </a:endParaRPr>
          </a:p>
        </p:txBody>
      </p:sp>
      <p:pic>
        <p:nvPicPr>
          <p:cNvPr id="218" name="Google Shape;218;p20"/>
          <p:cNvPicPr preferRelativeResize="0"/>
          <p:nvPr/>
        </p:nvPicPr>
        <p:blipFill rotWithShape="1">
          <a:blip r:embed="rId3">
            <a:alphaModFix/>
          </a:blip>
          <a:srcRect b="0" l="0" r="0" t="0"/>
          <a:stretch/>
        </p:blipFill>
        <p:spPr>
          <a:xfrm>
            <a:off x="4787646" y="1408176"/>
            <a:ext cx="6959920" cy="434534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1"/>
          <p:cNvSpPr txBox="1"/>
          <p:nvPr/>
        </p:nvSpPr>
        <p:spPr>
          <a:xfrm>
            <a:off x="1975104" y="5792831"/>
            <a:ext cx="832861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ES" sz="1800">
                <a:solidFill>
                  <a:schemeClr val="dk1"/>
                </a:solidFill>
                <a:latin typeface="Arial"/>
                <a:ea typeface="Arial"/>
                <a:cs typeface="Arial"/>
                <a:sym typeface="Arial"/>
              </a:rPr>
              <a:t>Figura 4. Distribución de Profit. Predominan valores cercanos a cero y aparecen pérdidas asociadas a descuentos altos.</a:t>
            </a:r>
            <a:endParaRPr sz="1800">
              <a:solidFill>
                <a:schemeClr val="dk1"/>
              </a:solidFill>
              <a:latin typeface="Arial"/>
              <a:ea typeface="Arial"/>
              <a:cs typeface="Arial"/>
              <a:sym typeface="Arial"/>
            </a:endParaRPr>
          </a:p>
        </p:txBody>
      </p:sp>
      <p:pic>
        <p:nvPicPr>
          <p:cNvPr id="224" name="Google Shape;224;p21"/>
          <p:cNvPicPr preferRelativeResize="0"/>
          <p:nvPr/>
        </p:nvPicPr>
        <p:blipFill rotWithShape="1">
          <a:blip r:embed="rId3">
            <a:alphaModFix/>
          </a:blip>
          <a:srcRect b="0" l="0" r="0" t="0"/>
          <a:stretch/>
        </p:blipFill>
        <p:spPr>
          <a:xfrm>
            <a:off x="1717193" y="602102"/>
            <a:ext cx="8328611" cy="519987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F4761"/>
              </a:buClr>
              <a:buSzPts val="3600"/>
              <a:buFont typeface="Times New Roman"/>
              <a:buNone/>
            </a:pPr>
            <a:r>
              <a:rPr lang="es-ES" sz="3600">
                <a:solidFill>
                  <a:srgbClr val="0F4761"/>
                </a:solidFill>
                <a:latin typeface="Times New Roman"/>
                <a:ea typeface="Times New Roman"/>
                <a:cs typeface="Times New Roman"/>
                <a:sym typeface="Times New Roman"/>
              </a:rPr>
              <a:t>3. Profit por Categoría y Sub-Categoría</a:t>
            </a:r>
            <a:endParaRPr/>
          </a:p>
        </p:txBody>
      </p:sp>
      <p:sp>
        <p:nvSpPr>
          <p:cNvPr id="231" name="Google Shape;231;p22"/>
          <p:cNvSpPr txBox="1"/>
          <p:nvPr>
            <p:ph idx="1" type="body"/>
          </p:nvPr>
        </p:nvSpPr>
        <p:spPr>
          <a:xfrm>
            <a:off x="838200" y="1408176"/>
            <a:ext cx="3907536" cy="4768787"/>
          </a:xfrm>
          <a:prstGeom prst="rect">
            <a:avLst/>
          </a:prstGeom>
          <a:noFill/>
          <a:ln>
            <a:noFill/>
          </a:ln>
        </p:spPr>
        <p:txBody>
          <a:bodyPr anchorCtr="0" anchor="t" bIns="45700" lIns="91425" spcFirstLastPara="1" rIns="91425" wrap="square" tIns="45700">
            <a:normAutofit fontScale="55000"/>
          </a:bodyPr>
          <a:lstStyle/>
          <a:p>
            <a:pPr indent="0" lvl="0" marL="0" rtl="0" algn="l">
              <a:lnSpc>
                <a:spcPct val="115000"/>
              </a:lnSpc>
              <a:spcBef>
                <a:spcPts val="0"/>
              </a:spcBef>
              <a:spcAft>
                <a:spcPts val="0"/>
              </a:spcAft>
              <a:buClr>
                <a:schemeClr val="dk1"/>
              </a:buClr>
              <a:buSzPct val="100000"/>
              <a:buNone/>
            </a:pPr>
            <a:r>
              <a:rPr lang="es-ES"/>
              <a:t>Se elaboraron barras horizontales que permiten comparar el </a:t>
            </a:r>
            <a:r>
              <a:rPr b="1" lang="es-ES"/>
              <a:t>profit promedio</a:t>
            </a:r>
            <a:r>
              <a:rPr lang="es-ES"/>
              <a:t> entre categorías y sub-categorías.</a:t>
            </a:r>
            <a:endParaRPr b="0"/>
          </a:p>
          <a:p>
            <a:pPr indent="0" lvl="0" marL="0" rtl="0" algn="l">
              <a:lnSpc>
                <a:spcPct val="115000"/>
              </a:lnSpc>
              <a:spcBef>
                <a:spcPts val="1000"/>
              </a:spcBef>
              <a:spcAft>
                <a:spcPts val="0"/>
              </a:spcAft>
              <a:buClr>
                <a:schemeClr val="dk1"/>
              </a:buClr>
              <a:buSzPct val="100000"/>
              <a:buNone/>
            </a:pPr>
            <a:r>
              <a:rPr lang="es-ES"/>
              <a:t>Conclusiones:</a:t>
            </a:r>
            <a:endParaRPr b="0"/>
          </a:p>
          <a:p>
            <a:pPr indent="-201930" lvl="0" marL="228600" rtl="0" algn="l">
              <a:lnSpc>
                <a:spcPct val="115000"/>
              </a:lnSpc>
              <a:spcBef>
                <a:spcPts val="1000"/>
              </a:spcBef>
              <a:spcAft>
                <a:spcPts val="0"/>
              </a:spcAft>
              <a:buClr>
                <a:schemeClr val="dk1"/>
              </a:buClr>
              <a:buSzPct val="100000"/>
              <a:buChar char="•"/>
            </a:pPr>
            <a:r>
              <a:rPr lang="es-ES"/>
              <a:t>La categoría </a:t>
            </a:r>
            <a:r>
              <a:rPr b="1" lang="es-ES"/>
              <a:t>Technology</a:t>
            </a:r>
            <a:r>
              <a:rPr lang="es-ES"/>
              <a:t> es la más rentable en promedio.</a:t>
            </a:r>
            <a:endParaRPr/>
          </a:p>
          <a:p>
            <a:pPr indent="-201930" lvl="0" marL="228600" rtl="0" algn="l">
              <a:lnSpc>
                <a:spcPct val="115000"/>
              </a:lnSpc>
              <a:spcBef>
                <a:spcPts val="1000"/>
              </a:spcBef>
              <a:spcAft>
                <a:spcPts val="0"/>
              </a:spcAft>
              <a:buClr>
                <a:schemeClr val="dk1"/>
              </a:buClr>
              <a:buSzPct val="100000"/>
              <a:buChar char="•"/>
            </a:pPr>
            <a:r>
              <a:rPr lang="es-ES"/>
              <a:t>Dentro de las sub-categorías, </a:t>
            </a:r>
            <a:r>
              <a:rPr b="1" lang="es-ES"/>
              <a:t>Copiers</a:t>
            </a:r>
            <a:r>
              <a:rPr lang="es-ES"/>
              <a:t> destaca como la más rentable por amplio margen.</a:t>
            </a:r>
            <a:endParaRPr/>
          </a:p>
          <a:p>
            <a:pPr indent="-201930" lvl="0" marL="228600" rtl="0" algn="l">
              <a:lnSpc>
                <a:spcPct val="115000"/>
              </a:lnSpc>
              <a:spcBef>
                <a:spcPts val="1000"/>
              </a:spcBef>
              <a:spcAft>
                <a:spcPts val="0"/>
              </a:spcAft>
              <a:buClr>
                <a:schemeClr val="dk1"/>
              </a:buClr>
              <a:buSzPct val="100000"/>
              <a:buChar char="•"/>
            </a:pPr>
            <a:r>
              <a:rPr lang="es-ES"/>
              <a:t>Existen sub-categorías con profit negativo, lo que puede alertar sobre productos problemáticos.</a:t>
            </a:r>
            <a:endParaRPr/>
          </a:p>
          <a:p>
            <a:pPr indent="0" lvl="0" marL="0" rtl="0" algn="l">
              <a:lnSpc>
                <a:spcPct val="115000"/>
              </a:lnSpc>
              <a:spcBef>
                <a:spcPts val="1000"/>
              </a:spcBef>
              <a:spcAft>
                <a:spcPts val="0"/>
              </a:spcAft>
              <a:buClr>
                <a:schemeClr val="dk1"/>
              </a:buClr>
              <a:buSzPct val="100000"/>
              <a:buNone/>
            </a:pPr>
            <a:r>
              <a:rPr lang="es-ES"/>
              <a:t>Esta sección ayuda a identificar dónde la empresa gana (o pierde) dinero.</a:t>
            </a:r>
            <a:endParaRPr b="0"/>
          </a:p>
        </p:txBody>
      </p:sp>
      <p:sp>
        <p:nvSpPr>
          <p:cNvPr id="232" name="Google Shape;232;p22"/>
          <p:cNvSpPr txBox="1"/>
          <p:nvPr/>
        </p:nvSpPr>
        <p:spPr>
          <a:xfrm>
            <a:off x="5432298" y="5653743"/>
            <a:ext cx="609447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ES" sz="1400">
                <a:solidFill>
                  <a:srgbClr val="000000"/>
                </a:solidFill>
                <a:latin typeface="Arial"/>
                <a:ea typeface="Arial"/>
                <a:cs typeface="Arial"/>
                <a:sym typeface="Arial"/>
              </a:rPr>
              <a:t>Figura 5. Profit promedio por Categoría. Technology lidera en rentabilidad, seguida por Office Supplies.</a:t>
            </a:r>
            <a:endParaRPr sz="1400">
              <a:solidFill>
                <a:schemeClr val="dk1"/>
              </a:solidFill>
              <a:latin typeface="Arial"/>
              <a:ea typeface="Arial"/>
              <a:cs typeface="Arial"/>
              <a:sym typeface="Arial"/>
            </a:endParaRPr>
          </a:p>
        </p:txBody>
      </p:sp>
      <p:pic>
        <p:nvPicPr>
          <p:cNvPr id="233" name="Google Shape;233;p22"/>
          <p:cNvPicPr preferRelativeResize="0"/>
          <p:nvPr/>
        </p:nvPicPr>
        <p:blipFill rotWithShape="1">
          <a:blip r:embed="rId3">
            <a:alphaModFix/>
          </a:blip>
          <a:srcRect b="0" l="0" r="0" t="0"/>
          <a:stretch/>
        </p:blipFill>
        <p:spPr>
          <a:xfrm>
            <a:off x="5002530" y="1408176"/>
            <a:ext cx="6619946" cy="413308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3"/>
          <p:cNvSpPr txBox="1"/>
          <p:nvPr/>
        </p:nvSpPr>
        <p:spPr>
          <a:xfrm>
            <a:off x="1975104" y="5792831"/>
            <a:ext cx="832861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ES" sz="1800">
                <a:solidFill>
                  <a:schemeClr val="dk1"/>
                </a:solidFill>
                <a:latin typeface="Arial"/>
                <a:ea typeface="Arial"/>
                <a:cs typeface="Arial"/>
                <a:sym typeface="Arial"/>
              </a:rPr>
              <a:t>Figura 6. Profit promedio por Sub-Categoría. Copiers destaca como la subcategoría más rentable del dataset.</a:t>
            </a:r>
            <a:endParaRPr sz="1800">
              <a:solidFill>
                <a:schemeClr val="dk1"/>
              </a:solidFill>
              <a:latin typeface="Arial"/>
              <a:ea typeface="Arial"/>
              <a:cs typeface="Arial"/>
              <a:sym typeface="Arial"/>
            </a:endParaRPr>
          </a:p>
        </p:txBody>
      </p:sp>
      <p:pic>
        <p:nvPicPr>
          <p:cNvPr id="239" name="Google Shape;239;p23"/>
          <p:cNvPicPr preferRelativeResize="0"/>
          <p:nvPr/>
        </p:nvPicPr>
        <p:blipFill rotWithShape="1">
          <a:blip r:embed="rId3">
            <a:alphaModFix/>
          </a:blip>
          <a:srcRect b="0" l="0" r="0" t="0"/>
          <a:stretch/>
        </p:blipFill>
        <p:spPr>
          <a:xfrm>
            <a:off x="1732740" y="441640"/>
            <a:ext cx="8570975" cy="535119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F4761"/>
              </a:buClr>
              <a:buSzPts val="3600"/>
              <a:buFont typeface="Times New Roman"/>
              <a:buNone/>
            </a:pPr>
            <a:r>
              <a:rPr lang="es-ES" sz="3600">
                <a:solidFill>
                  <a:srgbClr val="0F4761"/>
                </a:solidFill>
                <a:latin typeface="Times New Roman"/>
                <a:ea typeface="Times New Roman"/>
                <a:cs typeface="Times New Roman"/>
                <a:sym typeface="Times New Roman"/>
              </a:rPr>
              <a:t>4. Relaciones entre variables numéricas</a:t>
            </a:r>
            <a:endParaRPr/>
          </a:p>
        </p:txBody>
      </p:sp>
      <p:sp>
        <p:nvSpPr>
          <p:cNvPr id="246" name="Google Shape;246;p24"/>
          <p:cNvSpPr txBox="1"/>
          <p:nvPr>
            <p:ph idx="1" type="body"/>
          </p:nvPr>
        </p:nvSpPr>
        <p:spPr>
          <a:xfrm>
            <a:off x="838200" y="1408176"/>
            <a:ext cx="3907536" cy="4768787"/>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115000"/>
              </a:lnSpc>
              <a:spcBef>
                <a:spcPts val="0"/>
              </a:spcBef>
              <a:spcAft>
                <a:spcPts val="0"/>
              </a:spcAft>
              <a:buClr>
                <a:schemeClr val="dk1"/>
              </a:buClr>
              <a:buSzPct val="100000"/>
              <a:buNone/>
            </a:pPr>
            <a:r>
              <a:rPr lang="es-ES"/>
              <a:t>Se produjeron dos scatterplots esenciales:</a:t>
            </a:r>
            <a:endParaRPr b="0"/>
          </a:p>
          <a:p>
            <a:pPr indent="0" lvl="0" marL="0" rtl="0" algn="l">
              <a:lnSpc>
                <a:spcPct val="115000"/>
              </a:lnSpc>
              <a:spcBef>
                <a:spcPts val="1000"/>
              </a:spcBef>
              <a:spcAft>
                <a:spcPts val="0"/>
              </a:spcAft>
              <a:buClr>
                <a:schemeClr val="dk1"/>
              </a:buClr>
              <a:buSzPct val="100000"/>
              <a:buNone/>
            </a:pPr>
            <a:r>
              <a:rPr b="1" lang="es-ES"/>
              <a:t>Sales vs Profit</a:t>
            </a:r>
            <a:endParaRPr b="0"/>
          </a:p>
          <a:p>
            <a:pPr indent="-215265" lvl="0" marL="228600" rtl="0" algn="l">
              <a:lnSpc>
                <a:spcPct val="115000"/>
              </a:lnSpc>
              <a:spcBef>
                <a:spcPts val="1000"/>
              </a:spcBef>
              <a:spcAft>
                <a:spcPts val="0"/>
              </a:spcAft>
              <a:buClr>
                <a:schemeClr val="dk1"/>
              </a:buClr>
              <a:buSzPct val="100000"/>
              <a:buChar char="•"/>
            </a:pPr>
            <a:r>
              <a:rPr lang="es-ES"/>
              <a:t>La correlación positiva es visible, pero no es estrictamente lineal.</a:t>
            </a:r>
            <a:endParaRPr/>
          </a:p>
          <a:p>
            <a:pPr indent="-215265" lvl="0" marL="228600" rtl="0" algn="l">
              <a:lnSpc>
                <a:spcPct val="115000"/>
              </a:lnSpc>
              <a:spcBef>
                <a:spcPts val="1000"/>
              </a:spcBef>
              <a:spcAft>
                <a:spcPts val="0"/>
              </a:spcAft>
              <a:buClr>
                <a:schemeClr val="dk1"/>
              </a:buClr>
              <a:buSzPct val="100000"/>
              <a:buChar char="•"/>
            </a:pPr>
            <a:r>
              <a:rPr lang="es-ES"/>
              <a:t>Outliers: ventas altas con ganancias muy altas o negativas.</a:t>
            </a:r>
            <a:endParaRPr/>
          </a:p>
          <a:p>
            <a:pPr indent="-117475" lvl="0" marL="228600" rtl="0" algn="l">
              <a:lnSpc>
                <a:spcPct val="115000"/>
              </a:lnSpc>
              <a:spcBef>
                <a:spcPts val="1000"/>
              </a:spcBef>
              <a:spcAft>
                <a:spcPts val="0"/>
              </a:spcAft>
              <a:buClr>
                <a:schemeClr val="dk1"/>
              </a:buClr>
              <a:buSzPct val="100000"/>
              <a:buNone/>
            </a:pPr>
            <a:r>
              <a:t/>
            </a:r>
            <a:endParaRPr/>
          </a:p>
          <a:p>
            <a:pPr indent="0" lvl="0" marL="0" rtl="0" algn="l">
              <a:lnSpc>
                <a:spcPct val="115000"/>
              </a:lnSpc>
              <a:spcBef>
                <a:spcPts val="1000"/>
              </a:spcBef>
              <a:spcAft>
                <a:spcPts val="0"/>
              </a:spcAft>
              <a:buClr>
                <a:schemeClr val="dk1"/>
              </a:buClr>
              <a:buSzPct val="100000"/>
              <a:buNone/>
            </a:pPr>
            <a:r>
              <a:rPr b="1" lang="es-ES"/>
              <a:t>Discount vs Profit</a:t>
            </a:r>
            <a:endParaRPr b="0"/>
          </a:p>
          <a:p>
            <a:pPr indent="-215265" lvl="0" marL="228600" rtl="0" algn="l">
              <a:lnSpc>
                <a:spcPct val="115000"/>
              </a:lnSpc>
              <a:spcBef>
                <a:spcPts val="1000"/>
              </a:spcBef>
              <a:spcAft>
                <a:spcPts val="0"/>
              </a:spcAft>
              <a:buClr>
                <a:schemeClr val="dk1"/>
              </a:buClr>
              <a:buSzPct val="100000"/>
              <a:buChar char="•"/>
            </a:pPr>
            <a:r>
              <a:rPr lang="es-ES"/>
              <a:t>Muestra claramente la relación negativa entre ambas variables.</a:t>
            </a:r>
            <a:endParaRPr/>
          </a:p>
          <a:p>
            <a:pPr indent="-215265" lvl="0" marL="228600" rtl="0" algn="l">
              <a:lnSpc>
                <a:spcPct val="115000"/>
              </a:lnSpc>
              <a:spcBef>
                <a:spcPts val="1000"/>
              </a:spcBef>
              <a:spcAft>
                <a:spcPts val="0"/>
              </a:spcAft>
              <a:buClr>
                <a:schemeClr val="dk1"/>
              </a:buClr>
              <a:buSzPct val="100000"/>
              <a:buChar char="•"/>
            </a:pPr>
            <a:r>
              <a:rPr lang="es-ES"/>
              <a:t>Confirma los resultados del modelo: los descuentos altos destruyen el margen.</a:t>
            </a:r>
            <a:endParaRPr/>
          </a:p>
          <a:p>
            <a:pPr indent="0" lvl="0" marL="0" rtl="0" algn="l">
              <a:lnSpc>
                <a:spcPct val="115000"/>
              </a:lnSpc>
              <a:spcBef>
                <a:spcPts val="1000"/>
              </a:spcBef>
              <a:spcAft>
                <a:spcPts val="0"/>
              </a:spcAft>
              <a:buClr>
                <a:schemeClr val="dk1"/>
              </a:buClr>
              <a:buSzPct val="100000"/>
              <a:buNone/>
            </a:pPr>
            <a:br>
              <a:rPr b="0" lang="es-ES"/>
            </a:br>
            <a:r>
              <a:rPr lang="es-ES"/>
              <a:t>Estos gráficos conectan visualmente con los resultados del modelado de la etapa 3.</a:t>
            </a:r>
            <a:endParaRPr b="0"/>
          </a:p>
        </p:txBody>
      </p:sp>
      <p:sp>
        <p:nvSpPr>
          <p:cNvPr id="247" name="Google Shape;247;p24"/>
          <p:cNvSpPr txBox="1"/>
          <p:nvPr/>
        </p:nvSpPr>
        <p:spPr>
          <a:xfrm>
            <a:off x="5459730" y="5845767"/>
            <a:ext cx="609447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ES" sz="1400">
                <a:solidFill>
                  <a:srgbClr val="000000"/>
                </a:solidFill>
                <a:latin typeface="Arial"/>
                <a:ea typeface="Arial"/>
                <a:cs typeface="Arial"/>
                <a:sym typeface="Arial"/>
              </a:rPr>
              <a:t>Figura 7. Relación entre Sales y Profit. La relación positiva está fuertemente afectada por transacciones extremas.</a:t>
            </a:r>
            <a:endParaRPr sz="1400">
              <a:solidFill>
                <a:schemeClr val="dk1"/>
              </a:solidFill>
              <a:latin typeface="Arial"/>
              <a:ea typeface="Arial"/>
              <a:cs typeface="Arial"/>
              <a:sym typeface="Arial"/>
            </a:endParaRPr>
          </a:p>
        </p:txBody>
      </p:sp>
      <p:pic>
        <p:nvPicPr>
          <p:cNvPr id="248" name="Google Shape;248;p24"/>
          <p:cNvPicPr preferRelativeResize="0"/>
          <p:nvPr/>
        </p:nvPicPr>
        <p:blipFill rotWithShape="1">
          <a:blip r:embed="rId3">
            <a:alphaModFix/>
          </a:blip>
          <a:srcRect b="0" l="0" r="0" t="0"/>
          <a:stretch/>
        </p:blipFill>
        <p:spPr>
          <a:xfrm>
            <a:off x="4745736" y="1408176"/>
            <a:ext cx="6912864" cy="431596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5"/>
          <p:cNvSpPr txBox="1"/>
          <p:nvPr>
            <p:ph idx="1" type="body"/>
          </p:nvPr>
        </p:nvSpPr>
        <p:spPr>
          <a:xfrm>
            <a:off x="838200" y="466344"/>
            <a:ext cx="10515600" cy="5710619"/>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15000"/>
              </a:lnSpc>
              <a:spcBef>
                <a:spcPts val="0"/>
              </a:spcBef>
              <a:spcAft>
                <a:spcPts val="0"/>
              </a:spcAft>
              <a:buClr>
                <a:schemeClr val="dk1"/>
              </a:buClr>
              <a:buSzPct val="100000"/>
              <a:buNone/>
            </a:pPr>
            <a:r>
              <a:rPr lang="es-ES"/>
              <a:t>La figura presenta la relación entre el monto de ventas por transacción y el profit obtenido. Se observa una tendencia general positiva: ventas mayores suelen asociarse a profits más altos. Sin embargo, también aparecen transacciones de alto volumen con profit negativo, indicando que no todas las ventas grandes son rentables.</a:t>
            </a:r>
            <a:endParaRPr b="0"/>
          </a:p>
          <a:p>
            <a:pPr indent="0" lvl="0" marL="0" rtl="0" algn="l">
              <a:lnSpc>
                <a:spcPct val="115000"/>
              </a:lnSpc>
              <a:spcBef>
                <a:spcPts val="1000"/>
              </a:spcBef>
              <a:spcAft>
                <a:spcPts val="0"/>
              </a:spcAft>
              <a:buClr>
                <a:schemeClr val="dk1"/>
              </a:buClr>
              <a:buSzPct val="100000"/>
              <a:buNone/>
            </a:pPr>
            <a:r>
              <a:rPr lang="es-ES"/>
              <a:t>La línea de tendencia ayuda a comprender este comportamiento mixto: existe correlación positiva, pero fuertemente afectada por casos extremos. Esto coincide con la dispersión detectada en el EDA y con la presencia de outliers naturales del negocio minorista.</a:t>
            </a:r>
            <a:endParaRPr b="0"/>
          </a:p>
          <a:p>
            <a:pPr indent="0" lvl="0" marL="0" rtl="0" algn="l">
              <a:lnSpc>
                <a:spcPct val="115000"/>
              </a:lnSpc>
              <a:spcBef>
                <a:spcPts val="1000"/>
              </a:spcBef>
              <a:spcAft>
                <a:spcPts val="0"/>
              </a:spcAft>
              <a:buClr>
                <a:schemeClr val="dk1"/>
              </a:buClr>
              <a:buSzPct val="100000"/>
              <a:buNone/>
            </a:pPr>
            <a:r>
              <a:t/>
            </a:r>
            <a:endParaRPr b="0"/>
          </a:p>
          <a:p>
            <a:pPr indent="0" lvl="0" marL="0" rtl="0" algn="l">
              <a:lnSpc>
                <a:spcPct val="115000"/>
              </a:lnSpc>
              <a:spcBef>
                <a:spcPts val="1000"/>
              </a:spcBef>
              <a:spcAft>
                <a:spcPts val="0"/>
              </a:spcAft>
              <a:buClr>
                <a:schemeClr val="dk1"/>
              </a:buClr>
              <a:buSzPct val="100000"/>
              <a:buNone/>
            </a:pPr>
            <a:r>
              <a:rPr b="1" lang="es-ES"/>
              <a:t>Interpretación clave:</a:t>
            </a:r>
            <a:endParaRPr b="0"/>
          </a:p>
          <a:p>
            <a:pPr indent="-201930" lvl="0" marL="228600" rtl="0" algn="l">
              <a:lnSpc>
                <a:spcPct val="115000"/>
              </a:lnSpc>
              <a:spcBef>
                <a:spcPts val="1000"/>
              </a:spcBef>
              <a:spcAft>
                <a:spcPts val="0"/>
              </a:spcAft>
              <a:buClr>
                <a:schemeClr val="dk1"/>
              </a:buClr>
              <a:buSzPct val="100000"/>
              <a:buChar char="•"/>
            </a:pPr>
            <a:r>
              <a:rPr lang="es-ES"/>
              <a:t>El volumen de ventas impulsa el profit, pero no lo garantiza.</a:t>
            </a:r>
            <a:endParaRPr/>
          </a:p>
          <a:p>
            <a:pPr indent="-201930" lvl="0" marL="228600" rtl="0" algn="l">
              <a:lnSpc>
                <a:spcPct val="115000"/>
              </a:lnSpc>
              <a:spcBef>
                <a:spcPts val="1000"/>
              </a:spcBef>
              <a:spcAft>
                <a:spcPts val="0"/>
              </a:spcAft>
              <a:buClr>
                <a:schemeClr val="dk1"/>
              </a:buClr>
              <a:buSzPct val="100000"/>
              <a:buChar char="•"/>
            </a:pPr>
            <a:r>
              <a:rPr lang="es-ES"/>
              <a:t>Existen productos o combinaciones de descuento que pueden generar pérdidas incluso en montos grandes.</a:t>
            </a:r>
            <a:endParaRPr/>
          </a:p>
          <a:p>
            <a:pPr indent="-201930" lvl="0" marL="228600" rtl="0" algn="l">
              <a:lnSpc>
                <a:spcPct val="115000"/>
              </a:lnSpc>
              <a:spcBef>
                <a:spcPts val="1000"/>
              </a:spcBef>
              <a:spcAft>
                <a:spcPts val="0"/>
              </a:spcAft>
              <a:buClr>
                <a:schemeClr val="dk1"/>
              </a:buClr>
              <a:buSzPct val="100000"/>
              <a:buChar char="•"/>
            </a:pPr>
            <a:r>
              <a:rPr lang="es-ES"/>
              <a:t>Las estrategias comerciales deben considerar no solo maximizar ventas, sino optimizar el margen.</a:t>
            </a:r>
            <a:endParaRPr/>
          </a:p>
          <a:p>
            <a:pPr indent="0" lvl="0" marL="0" rtl="0" algn="l">
              <a:lnSpc>
                <a:spcPct val="115000"/>
              </a:lnSpc>
              <a:spcBef>
                <a:spcPts val="1000"/>
              </a:spcBef>
              <a:spcAft>
                <a:spcPts val="0"/>
              </a:spcAft>
              <a:buClr>
                <a:schemeClr val="dk1"/>
              </a:buClr>
              <a:buSzPct val="100000"/>
              <a:buNone/>
            </a:pPr>
            <a:br>
              <a:rPr b="0" lang="es-ES"/>
            </a:br>
            <a:r>
              <a:rPr b="1" lang="es-ES"/>
              <a:t>Fuente:</a:t>
            </a:r>
            <a:r>
              <a:rPr lang="es-ES"/>
              <a:t> Elaboración propia en base a dataset </a:t>
            </a:r>
            <a:r>
              <a:rPr i="1" lang="es-ES"/>
              <a:t>Sample – Superstore</a:t>
            </a:r>
            <a:r>
              <a:rPr lang="es-ES"/>
              <a: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6"/>
          <p:cNvSpPr txBox="1"/>
          <p:nvPr/>
        </p:nvSpPr>
        <p:spPr>
          <a:xfrm>
            <a:off x="1975104" y="5792831"/>
            <a:ext cx="8328611"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ES" sz="1800">
                <a:solidFill>
                  <a:schemeClr val="dk1"/>
                </a:solidFill>
                <a:latin typeface="Arial"/>
                <a:ea typeface="Arial"/>
                <a:cs typeface="Arial"/>
                <a:sym typeface="Arial"/>
              </a:rPr>
              <a:t>Figura 8. Relación entre Discount y Profit. Los descuentos altos suelen generar pérdidas operativas. La tendencia negativa se vuelve más clara al limitar el rango de outliers.</a:t>
            </a:r>
            <a:endParaRPr sz="1800">
              <a:solidFill>
                <a:schemeClr val="dk1"/>
              </a:solidFill>
              <a:latin typeface="Arial"/>
              <a:ea typeface="Arial"/>
              <a:cs typeface="Arial"/>
              <a:sym typeface="Arial"/>
            </a:endParaRPr>
          </a:p>
        </p:txBody>
      </p:sp>
      <p:pic>
        <p:nvPicPr>
          <p:cNvPr id="259" name="Google Shape;259;p26"/>
          <p:cNvPicPr preferRelativeResize="0"/>
          <p:nvPr/>
        </p:nvPicPr>
        <p:blipFill rotWithShape="1">
          <a:blip r:embed="rId3">
            <a:alphaModFix/>
          </a:blip>
          <a:srcRect b="0" l="0" r="0" t="0"/>
          <a:stretch/>
        </p:blipFill>
        <p:spPr>
          <a:xfrm>
            <a:off x="1931694" y="418838"/>
            <a:ext cx="8328611" cy="519987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7"/>
          <p:cNvSpPr txBox="1"/>
          <p:nvPr>
            <p:ph idx="1" type="body"/>
          </p:nvPr>
        </p:nvSpPr>
        <p:spPr>
          <a:xfrm>
            <a:off x="838200" y="466344"/>
            <a:ext cx="10515600" cy="5710619"/>
          </a:xfrm>
          <a:prstGeom prst="rect">
            <a:avLst/>
          </a:prstGeom>
          <a:noFill/>
          <a:ln>
            <a:noFill/>
          </a:ln>
        </p:spPr>
        <p:txBody>
          <a:bodyPr anchorCtr="0" anchor="t" bIns="45700" lIns="91425" spcFirstLastPara="1" rIns="91425" wrap="square" tIns="45700">
            <a:normAutofit fontScale="62500"/>
          </a:bodyPr>
          <a:lstStyle/>
          <a:p>
            <a:pPr indent="0" lvl="0" marL="0" rtl="0" algn="l">
              <a:lnSpc>
                <a:spcPct val="115000"/>
              </a:lnSpc>
              <a:spcBef>
                <a:spcPts val="0"/>
              </a:spcBef>
              <a:spcAft>
                <a:spcPts val="0"/>
              </a:spcAft>
              <a:buClr>
                <a:schemeClr val="dk1"/>
              </a:buClr>
              <a:buSzPct val="100000"/>
              <a:buNone/>
            </a:pPr>
            <a:r>
              <a:rPr lang="es-ES"/>
              <a:t>Este gráfico muestra la relación entre el nivel de descuento otorgado y el profit obtenido por transacción. Se observa un patrón claramente decreciente: a medida que aumenta el descuento, el profit cae de manera pronunciada, llegando incluso a valores negativos en niveles altos de descuento.</a:t>
            </a:r>
            <a:endParaRPr b="0"/>
          </a:p>
          <a:p>
            <a:pPr indent="0" lvl="0" marL="0" rtl="0" algn="l">
              <a:lnSpc>
                <a:spcPct val="115000"/>
              </a:lnSpc>
              <a:spcBef>
                <a:spcPts val="1000"/>
              </a:spcBef>
              <a:spcAft>
                <a:spcPts val="0"/>
              </a:spcAft>
              <a:buClr>
                <a:schemeClr val="dk1"/>
              </a:buClr>
              <a:buSzPct val="100000"/>
              <a:buNone/>
            </a:pPr>
            <a:r>
              <a:rPr lang="es-ES"/>
              <a:t>La línea de tendencia confirma estadísticamente esta relación negativa, consistente con los resultados del modelo de regresión y valida la hipótesis principal del análisis (</a:t>
            </a:r>
            <a:r>
              <a:rPr i="1" lang="es-ES"/>
              <a:t>H1: los descuentos reducen significativamente el profit</a:t>
            </a:r>
            <a:r>
              <a:rPr lang="es-ES"/>
              <a:t>).</a:t>
            </a:r>
            <a:endParaRPr b="0"/>
          </a:p>
          <a:p>
            <a:pPr indent="0" lvl="0" marL="0" rtl="0" algn="l">
              <a:lnSpc>
                <a:spcPct val="115000"/>
              </a:lnSpc>
              <a:spcBef>
                <a:spcPts val="1000"/>
              </a:spcBef>
              <a:spcAft>
                <a:spcPts val="0"/>
              </a:spcAft>
              <a:buClr>
                <a:schemeClr val="dk1"/>
              </a:buClr>
              <a:buSzPct val="100000"/>
              <a:buNone/>
            </a:pPr>
            <a:br>
              <a:rPr b="0" lang="es-ES"/>
            </a:br>
            <a:endParaRPr b="0"/>
          </a:p>
          <a:p>
            <a:pPr indent="0" lvl="0" marL="0" rtl="0" algn="l">
              <a:lnSpc>
                <a:spcPct val="115000"/>
              </a:lnSpc>
              <a:spcBef>
                <a:spcPts val="1000"/>
              </a:spcBef>
              <a:spcAft>
                <a:spcPts val="0"/>
              </a:spcAft>
              <a:buClr>
                <a:schemeClr val="dk1"/>
              </a:buClr>
              <a:buSzPct val="100000"/>
              <a:buNone/>
            </a:pPr>
            <a:r>
              <a:rPr b="1" lang="es-ES"/>
              <a:t>Interpretación clave:</a:t>
            </a:r>
            <a:endParaRPr b="0"/>
          </a:p>
          <a:p>
            <a:pPr indent="-188595" lvl="0" marL="228600" rtl="0" algn="l">
              <a:lnSpc>
                <a:spcPct val="115000"/>
              </a:lnSpc>
              <a:spcBef>
                <a:spcPts val="1000"/>
              </a:spcBef>
              <a:spcAft>
                <a:spcPts val="0"/>
              </a:spcAft>
              <a:buClr>
                <a:schemeClr val="dk1"/>
              </a:buClr>
              <a:buSzPct val="100000"/>
              <a:buChar char="•"/>
            </a:pPr>
            <a:r>
              <a:rPr lang="es-ES"/>
              <a:t>Descuentos superiores al 20% tienden a generar pérdidas.</a:t>
            </a:r>
            <a:endParaRPr/>
          </a:p>
          <a:p>
            <a:pPr indent="-188595" lvl="0" marL="228600" rtl="0" algn="l">
              <a:lnSpc>
                <a:spcPct val="115000"/>
              </a:lnSpc>
              <a:spcBef>
                <a:spcPts val="1000"/>
              </a:spcBef>
              <a:spcAft>
                <a:spcPts val="0"/>
              </a:spcAft>
              <a:buClr>
                <a:schemeClr val="dk1"/>
              </a:buClr>
              <a:buSzPct val="100000"/>
              <a:buChar char="•"/>
            </a:pPr>
            <a:r>
              <a:rPr lang="es-ES"/>
              <a:t>La variabilidad aumenta con el descuento, lo que indica mayor riesgo.</a:t>
            </a:r>
            <a:endParaRPr/>
          </a:p>
          <a:p>
            <a:pPr indent="-188595" lvl="0" marL="228600" rtl="0" algn="l">
              <a:lnSpc>
                <a:spcPct val="115000"/>
              </a:lnSpc>
              <a:spcBef>
                <a:spcPts val="1000"/>
              </a:spcBef>
              <a:spcAft>
                <a:spcPts val="0"/>
              </a:spcAft>
              <a:buClr>
                <a:schemeClr val="dk1"/>
              </a:buClr>
              <a:buSzPct val="100000"/>
              <a:buChar char="•"/>
            </a:pPr>
            <a:r>
              <a:rPr lang="es-ES"/>
              <a:t>Las políticas comerciales deben controlar descuentos agresivos para mantener la rentabilidad.</a:t>
            </a:r>
            <a:endParaRPr/>
          </a:p>
          <a:p>
            <a:pPr indent="0" lvl="0" marL="0" rtl="0" algn="l">
              <a:lnSpc>
                <a:spcPct val="115000"/>
              </a:lnSpc>
              <a:spcBef>
                <a:spcPts val="1000"/>
              </a:spcBef>
              <a:spcAft>
                <a:spcPts val="0"/>
              </a:spcAft>
              <a:buClr>
                <a:schemeClr val="dk1"/>
              </a:buClr>
              <a:buSzPct val="100000"/>
              <a:buNone/>
            </a:pPr>
            <a:br>
              <a:rPr b="0" lang="es-ES"/>
            </a:br>
            <a:endParaRPr b="0"/>
          </a:p>
          <a:p>
            <a:pPr indent="0" lvl="0" marL="0" rtl="0" algn="l">
              <a:lnSpc>
                <a:spcPct val="115000"/>
              </a:lnSpc>
              <a:spcBef>
                <a:spcPts val="1000"/>
              </a:spcBef>
              <a:spcAft>
                <a:spcPts val="0"/>
              </a:spcAft>
              <a:buClr>
                <a:schemeClr val="dk1"/>
              </a:buClr>
              <a:buSzPct val="100000"/>
              <a:buNone/>
            </a:pPr>
            <a:r>
              <a:rPr b="1" lang="es-ES"/>
              <a:t>Fuente:</a:t>
            </a:r>
            <a:r>
              <a:rPr lang="es-ES"/>
              <a:t> Elaboración propia en base a dataset </a:t>
            </a:r>
            <a:r>
              <a:rPr i="1" lang="es-ES"/>
              <a:t>Sample – Superstore</a:t>
            </a:r>
            <a:r>
              <a:rPr lang="es-ES"/>
              <a: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F4761"/>
              </a:buClr>
              <a:buSzPts val="3600"/>
              <a:buFont typeface="Times New Roman"/>
              <a:buNone/>
            </a:pPr>
            <a:r>
              <a:rPr lang="es-ES" sz="3600">
                <a:solidFill>
                  <a:srgbClr val="0F4761"/>
                </a:solidFill>
                <a:latin typeface="Times New Roman"/>
                <a:ea typeface="Times New Roman"/>
                <a:cs typeface="Times New Roman"/>
                <a:sym typeface="Times New Roman"/>
              </a:rPr>
              <a:t>5. Análisis por Región y Segmento</a:t>
            </a:r>
            <a:endParaRPr/>
          </a:p>
        </p:txBody>
      </p:sp>
      <p:sp>
        <p:nvSpPr>
          <p:cNvPr id="271" name="Google Shape;271;p28"/>
          <p:cNvSpPr txBox="1"/>
          <p:nvPr>
            <p:ph idx="1" type="body"/>
          </p:nvPr>
        </p:nvSpPr>
        <p:spPr>
          <a:xfrm>
            <a:off x="838200" y="1408176"/>
            <a:ext cx="3907500" cy="4768800"/>
          </a:xfrm>
          <a:prstGeom prst="rect">
            <a:avLst/>
          </a:prstGeom>
          <a:noFill/>
          <a:ln>
            <a:noFill/>
          </a:ln>
        </p:spPr>
        <p:txBody>
          <a:bodyPr anchorCtr="0" anchor="t" bIns="45700" lIns="91425" spcFirstLastPara="1" rIns="91425" wrap="square" tIns="45700">
            <a:normAutofit fontScale="47500" lnSpcReduction="10000"/>
          </a:bodyPr>
          <a:lstStyle/>
          <a:p>
            <a:pPr indent="0" lvl="0" marL="0" rtl="0" algn="l">
              <a:lnSpc>
                <a:spcPct val="115000"/>
              </a:lnSpc>
              <a:spcBef>
                <a:spcPts val="0"/>
              </a:spcBef>
              <a:spcAft>
                <a:spcPts val="0"/>
              </a:spcAft>
              <a:buClr>
                <a:schemeClr val="dk1"/>
              </a:buClr>
              <a:buSzPct val="100000"/>
              <a:buNone/>
            </a:pPr>
            <a:r>
              <a:rPr lang="es-ES"/>
              <a:t>Se generaron cuatro gráficos: ventas totales y profit promedio, tanto por región como por segmento.</a:t>
            </a:r>
            <a:endParaRPr b="0"/>
          </a:p>
          <a:p>
            <a:pPr indent="0" lvl="0" marL="0" rtl="0" algn="l">
              <a:lnSpc>
                <a:spcPct val="115000"/>
              </a:lnSpc>
              <a:spcBef>
                <a:spcPts val="1000"/>
              </a:spcBef>
              <a:spcAft>
                <a:spcPts val="0"/>
              </a:spcAft>
              <a:buClr>
                <a:schemeClr val="dk1"/>
              </a:buClr>
              <a:buSzPct val="100000"/>
              <a:buNone/>
            </a:pPr>
            <a:r>
              <a:rPr b="1" lang="es-ES"/>
              <a:t>Hallazgos por Región</a:t>
            </a:r>
            <a:endParaRPr b="0"/>
          </a:p>
          <a:p>
            <a:pPr indent="-201930" lvl="0" marL="228600" rtl="0" algn="l">
              <a:lnSpc>
                <a:spcPct val="115000"/>
              </a:lnSpc>
              <a:spcBef>
                <a:spcPts val="1000"/>
              </a:spcBef>
              <a:spcAft>
                <a:spcPts val="0"/>
              </a:spcAft>
              <a:buClr>
                <a:schemeClr val="dk1"/>
              </a:buClr>
              <a:buSzPct val="100000"/>
              <a:buChar char="•"/>
            </a:pPr>
            <a:r>
              <a:rPr i="1" lang="es-ES"/>
              <a:t>West</a:t>
            </a:r>
            <a:r>
              <a:rPr lang="es-ES"/>
              <a:t> y </a:t>
            </a:r>
            <a:r>
              <a:rPr i="1" lang="es-ES"/>
              <a:t>East</a:t>
            </a:r>
            <a:r>
              <a:rPr lang="es-ES"/>
              <a:t> muestran los valores más altos de ventas y profit.</a:t>
            </a:r>
            <a:endParaRPr/>
          </a:p>
          <a:p>
            <a:pPr indent="-201930" lvl="0" marL="228600" rtl="0" algn="l">
              <a:lnSpc>
                <a:spcPct val="115000"/>
              </a:lnSpc>
              <a:spcBef>
                <a:spcPts val="1000"/>
              </a:spcBef>
              <a:spcAft>
                <a:spcPts val="0"/>
              </a:spcAft>
              <a:buClr>
                <a:schemeClr val="dk1"/>
              </a:buClr>
              <a:buSzPct val="100000"/>
              <a:buChar char="•"/>
            </a:pPr>
            <a:r>
              <a:rPr i="1" lang="es-ES"/>
              <a:t>South</a:t>
            </a:r>
            <a:r>
              <a:rPr lang="es-ES"/>
              <a:t> queda rezagada.</a:t>
            </a:r>
            <a:endParaRPr/>
          </a:p>
          <a:p>
            <a:pPr indent="-117475" lvl="0" marL="228600" rtl="0" algn="l">
              <a:lnSpc>
                <a:spcPct val="115000"/>
              </a:lnSpc>
              <a:spcBef>
                <a:spcPts val="1000"/>
              </a:spcBef>
              <a:spcAft>
                <a:spcPts val="0"/>
              </a:spcAft>
              <a:buClr>
                <a:schemeClr val="dk1"/>
              </a:buClr>
              <a:buSzPct val="100000"/>
              <a:buNone/>
            </a:pPr>
            <a:r>
              <a:t/>
            </a:r>
            <a:endParaRPr/>
          </a:p>
          <a:p>
            <a:pPr indent="0" lvl="0" marL="0" rtl="0" algn="l">
              <a:lnSpc>
                <a:spcPct val="115000"/>
              </a:lnSpc>
              <a:spcBef>
                <a:spcPts val="1000"/>
              </a:spcBef>
              <a:spcAft>
                <a:spcPts val="0"/>
              </a:spcAft>
              <a:buClr>
                <a:schemeClr val="dk1"/>
              </a:buClr>
              <a:buSzPct val="100000"/>
              <a:buNone/>
            </a:pPr>
            <a:r>
              <a:rPr b="1" lang="es-ES"/>
              <a:t>Hallazgos por Segmento</a:t>
            </a:r>
            <a:endParaRPr b="0"/>
          </a:p>
          <a:p>
            <a:pPr indent="-201930" lvl="0" marL="228600" rtl="0" algn="l">
              <a:lnSpc>
                <a:spcPct val="115000"/>
              </a:lnSpc>
              <a:spcBef>
                <a:spcPts val="1000"/>
              </a:spcBef>
              <a:spcAft>
                <a:spcPts val="0"/>
              </a:spcAft>
              <a:buClr>
                <a:schemeClr val="dk1"/>
              </a:buClr>
              <a:buSzPct val="100000"/>
              <a:buChar char="•"/>
            </a:pPr>
            <a:r>
              <a:rPr i="1" lang="es-ES"/>
              <a:t>Consumer</a:t>
            </a:r>
            <a:r>
              <a:rPr lang="es-ES"/>
              <a:t> tiene la mayor cantidad de ventas.</a:t>
            </a:r>
            <a:endParaRPr/>
          </a:p>
          <a:p>
            <a:pPr indent="-201930" lvl="0" marL="228600" rtl="0" algn="l">
              <a:lnSpc>
                <a:spcPct val="115000"/>
              </a:lnSpc>
              <a:spcBef>
                <a:spcPts val="1000"/>
              </a:spcBef>
              <a:spcAft>
                <a:spcPts val="0"/>
              </a:spcAft>
              <a:buClr>
                <a:schemeClr val="dk1"/>
              </a:buClr>
              <a:buSzPct val="100000"/>
              <a:buChar char="•"/>
            </a:pPr>
            <a:r>
              <a:rPr i="1" lang="es-ES"/>
              <a:t>Home Office</a:t>
            </a:r>
            <a:r>
              <a:rPr lang="es-ES"/>
              <a:t> presenta el </a:t>
            </a:r>
            <a:r>
              <a:rPr i="1" lang="es-ES"/>
              <a:t>profit promedio</a:t>
            </a:r>
            <a:r>
              <a:rPr lang="es-ES"/>
              <a:t> más alto.</a:t>
            </a:r>
            <a:endParaRPr/>
          </a:p>
          <a:p>
            <a:pPr indent="0" lvl="0" marL="0" rtl="0" algn="l">
              <a:lnSpc>
                <a:spcPct val="115000"/>
              </a:lnSpc>
              <a:spcBef>
                <a:spcPts val="1000"/>
              </a:spcBef>
              <a:spcAft>
                <a:spcPts val="0"/>
              </a:spcAft>
              <a:buClr>
                <a:schemeClr val="dk1"/>
              </a:buClr>
              <a:buSzPct val="100000"/>
              <a:buNone/>
            </a:pPr>
            <a:br>
              <a:rPr b="0" lang="es-ES"/>
            </a:br>
            <a:endParaRPr b="0"/>
          </a:p>
          <a:p>
            <a:pPr indent="0" lvl="0" marL="0" rtl="0" algn="l">
              <a:lnSpc>
                <a:spcPct val="115000"/>
              </a:lnSpc>
              <a:spcBef>
                <a:spcPts val="1000"/>
              </a:spcBef>
              <a:spcAft>
                <a:spcPts val="0"/>
              </a:spcAft>
              <a:buClr>
                <a:schemeClr val="dk1"/>
              </a:buClr>
              <a:buSzPct val="100000"/>
              <a:buNone/>
            </a:pPr>
            <a:r>
              <a:rPr lang="es-ES"/>
              <a:t>Esta sección complementa el storytelling general del negocio.</a:t>
            </a:r>
            <a:endParaRPr b="0"/>
          </a:p>
        </p:txBody>
      </p:sp>
      <p:sp>
        <p:nvSpPr>
          <p:cNvPr id="272" name="Google Shape;272;p28"/>
          <p:cNvSpPr txBox="1"/>
          <p:nvPr/>
        </p:nvSpPr>
        <p:spPr>
          <a:xfrm>
            <a:off x="5459730" y="5845767"/>
            <a:ext cx="609447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ES" sz="1400">
                <a:solidFill>
                  <a:srgbClr val="000000"/>
                </a:solidFill>
                <a:latin typeface="Arial"/>
                <a:ea typeface="Arial"/>
                <a:cs typeface="Arial"/>
                <a:sym typeface="Arial"/>
              </a:rPr>
              <a:t>Figura 9. Ventas totales por Región. East y West son las regiones más fuertes en volumen.</a:t>
            </a:r>
            <a:endParaRPr sz="1400">
              <a:solidFill>
                <a:schemeClr val="dk1"/>
              </a:solidFill>
              <a:latin typeface="Arial"/>
              <a:ea typeface="Arial"/>
              <a:cs typeface="Arial"/>
              <a:sym typeface="Arial"/>
            </a:endParaRPr>
          </a:p>
        </p:txBody>
      </p:sp>
      <p:pic>
        <p:nvPicPr>
          <p:cNvPr id="273" name="Google Shape;273;p28"/>
          <p:cNvPicPr preferRelativeResize="0"/>
          <p:nvPr/>
        </p:nvPicPr>
        <p:blipFill rotWithShape="1">
          <a:blip r:embed="rId3">
            <a:alphaModFix/>
          </a:blip>
          <a:srcRect b="0" l="0" r="0" t="0"/>
          <a:stretch/>
        </p:blipFill>
        <p:spPr>
          <a:xfrm>
            <a:off x="5059871" y="1408176"/>
            <a:ext cx="6883572" cy="429768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9"/>
          <p:cNvSpPr txBox="1"/>
          <p:nvPr/>
        </p:nvSpPr>
        <p:spPr>
          <a:xfrm>
            <a:off x="1975104" y="5792831"/>
            <a:ext cx="832861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ES" sz="1800">
                <a:solidFill>
                  <a:schemeClr val="dk1"/>
                </a:solidFill>
                <a:latin typeface="Arial"/>
                <a:ea typeface="Arial"/>
                <a:cs typeface="Arial"/>
                <a:sym typeface="Arial"/>
              </a:rPr>
              <a:t>Figura 10. Profit promedio por Región. Las regiones difieren notablemente en rentabilidad.</a:t>
            </a:r>
            <a:endParaRPr sz="1800">
              <a:solidFill>
                <a:schemeClr val="dk1"/>
              </a:solidFill>
              <a:latin typeface="Arial"/>
              <a:ea typeface="Arial"/>
              <a:cs typeface="Arial"/>
              <a:sym typeface="Arial"/>
            </a:endParaRPr>
          </a:p>
        </p:txBody>
      </p:sp>
      <p:pic>
        <p:nvPicPr>
          <p:cNvPr id="279" name="Google Shape;279;p29"/>
          <p:cNvPicPr preferRelativeResize="0"/>
          <p:nvPr/>
        </p:nvPicPr>
        <p:blipFill rotWithShape="1">
          <a:blip r:embed="rId3">
            <a:alphaModFix/>
          </a:blip>
          <a:srcRect b="0" l="0" r="0" t="0"/>
          <a:stretch/>
        </p:blipFill>
        <p:spPr>
          <a:xfrm>
            <a:off x="2010169" y="576072"/>
            <a:ext cx="8171661" cy="510188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0"/>
          <p:cNvSpPr txBox="1"/>
          <p:nvPr/>
        </p:nvSpPr>
        <p:spPr>
          <a:xfrm>
            <a:off x="1975104" y="5792831"/>
            <a:ext cx="832861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ES" sz="1800">
                <a:solidFill>
                  <a:schemeClr val="dk1"/>
                </a:solidFill>
                <a:latin typeface="Arial"/>
                <a:ea typeface="Arial"/>
                <a:cs typeface="Arial"/>
                <a:sym typeface="Arial"/>
              </a:rPr>
              <a:t>Figura 11. Ventas totales por Segmento. Consumer concentra la mayoría de las ventas.</a:t>
            </a:r>
            <a:endParaRPr sz="1800">
              <a:solidFill>
                <a:schemeClr val="dk1"/>
              </a:solidFill>
              <a:latin typeface="Arial"/>
              <a:ea typeface="Arial"/>
              <a:cs typeface="Arial"/>
              <a:sym typeface="Arial"/>
            </a:endParaRPr>
          </a:p>
        </p:txBody>
      </p:sp>
      <p:pic>
        <p:nvPicPr>
          <p:cNvPr id="285" name="Google Shape;285;p30"/>
          <p:cNvPicPr preferRelativeResize="0"/>
          <p:nvPr/>
        </p:nvPicPr>
        <p:blipFill rotWithShape="1">
          <a:blip r:embed="rId3">
            <a:alphaModFix/>
          </a:blip>
          <a:srcRect b="0" l="0" r="0" t="0"/>
          <a:stretch/>
        </p:blipFill>
        <p:spPr>
          <a:xfrm>
            <a:off x="1658293" y="658368"/>
            <a:ext cx="7952723" cy="4965192"/>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1"/>
          <p:cNvSpPr txBox="1"/>
          <p:nvPr/>
        </p:nvSpPr>
        <p:spPr>
          <a:xfrm>
            <a:off x="1975104" y="5792831"/>
            <a:ext cx="832861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ES" sz="1800">
                <a:solidFill>
                  <a:schemeClr val="dk1"/>
                </a:solidFill>
                <a:latin typeface="Arial"/>
                <a:ea typeface="Arial"/>
                <a:cs typeface="Arial"/>
                <a:sym typeface="Arial"/>
              </a:rPr>
              <a:t>Figura 12. Profit promedio por Segmento. Home Office presenta el mayor profit por transacción.</a:t>
            </a:r>
            <a:endParaRPr sz="1800">
              <a:solidFill>
                <a:schemeClr val="dk1"/>
              </a:solidFill>
              <a:latin typeface="Arial"/>
              <a:ea typeface="Arial"/>
              <a:cs typeface="Arial"/>
              <a:sym typeface="Arial"/>
            </a:endParaRPr>
          </a:p>
        </p:txBody>
      </p:sp>
      <p:pic>
        <p:nvPicPr>
          <p:cNvPr id="291" name="Google Shape;291;p31"/>
          <p:cNvPicPr preferRelativeResize="0"/>
          <p:nvPr/>
        </p:nvPicPr>
        <p:blipFill rotWithShape="1">
          <a:blip r:embed="rId3">
            <a:alphaModFix/>
          </a:blip>
          <a:srcRect b="0" l="0" r="0" t="0"/>
          <a:stretch/>
        </p:blipFill>
        <p:spPr>
          <a:xfrm>
            <a:off x="1859254" y="502503"/>
            <a:ext cx="8473491" cy="529032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F4761"/>
              </a:buClr>
              <a:buSzPts val="3600"/>
              <a:buFont typeface="Times New Roman"/>
              <a:buNone/>
            </a:pPr>
            <a:r>
              <a:rPr lang="es-ES" sz="3600">
                <a:solidFill>
                  <a:srgbClr val="0F4761"/>
                </a:solidFill>
                <a:latin typeface="Times New Roman"/>
                <a:ea typeface="Times New Roman"/>
                <a:cs typeface="Times New Roman"/>
                <a:sym typeface="Times New Roman"/>
              </a:rPr>
              <a:t>6. Heatmap: Sales por Región y Categoría</a:t>
            </a:r>
            <a:endParaRPr/>
          </a:p>
        </p:txBody>
      </p:sp>
      <p:sp>
        <p:nvSpPr>
          <p:cNvPr id="298" name="Google Shape;298;p32"/>
          <p:cNvSpPr txBox="1"/>
          <p:nvPr>
            <p:ph idx="1" type="body"/>
          </p:nvPr>
        </p:nvSpPr>
        <p:spPr>
          <a:xfrm>
            <a:off x="838200" y="1408176"/>
            <a:ext cx="3907536" cy="4768787"/>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115000"/>
              </a:lnSpc>
              <a:spcBef>
                <a:spcPts val="0"/>
              </a:spcBef>
              <a:spcAft>
                <a:spcPts val="0"/>
              </a:spcAft>
              <a:buClr>
                <a:schemeClr val="dk1"/>
              </a:buClr>
              <a:buSzPct val="100000"/>
              <a:buNone/>
            </a:pPr>
            <a:r>
              <a:rPr lang="es-ES"/>
              <a:t>Este gráfico combina múltiples dimensiones (región, categoría, ventas totales) en una visualización compacta.</a:t>
            </a:r>
            <a:endParaRPr b="0"/>
          </a:p>
          <a:p>
            <a:pPr indent="0" lvl="0" marL="0" rtl="0" algn="l">
              <a:lnSpc>
                <a:spcPct val="115000"/>
              </a:lnSpc>
              <a:spcBef>
                <a:spcPts val="1000"/>
              </a:spcBef>
              <a:spcAft>
                <a:spcPts val="0"/>
              </a:spcAft>
              <a:buClr>
                <a:schemeClr val="dk1"/>
              </a:buClr>
              <a:buSzPct val="100000"/>
              <a:buNone/>
            </a:pPr>
            <a:r>
              <a:t/>
            </a:r>
            <a:endParaRPr b="0"/>
          </a:p>
          <a:p>
            <a:pPr indent="0" lvl="0" marL="0" rtl="0" algn="l">
              <a:lnSpc>
                <a:spcPct val="115000"/>
              </a:lnSpc>
              <a:spcBef>
                <a:spcPts val="1000"/>
              </a:spcBef>
              <a:spcAft>
                <a:spcPts val="0"/>
              </a:spcAft>
              <a:buClr>
                <a:schemeClr val="dk1"/>
              </a:buClr>
              <a:buSzPct val="100000"/>
              <a:buNone/>
            </a:pPr>
            <a:r>
              <a:rPr b="1" lang="es-ES"/>
              <a:t>Conclusiones:</a:t>
            </a:r>
            <a:endParaRPr b="0"/>
          </a:p>
          <a:p>
            <a:pPr indent="-215265" lvl="0" marL="228600" rtl="0" algn="l">
              <a:lnSpc>
                <a:spcPct val="115000"/>
              </a:lnSpc>
              <a:spcBef>
                <a:spcPts val="1000"/>
              </a:spcBef>
              <a:spcAft>
                <a:spcPts val="0"/>
              </a:spcAft>
              <a:buClr>
                <a:schemeClr val="dk1"/>
              </a:buClr>
              <a:buSzPct val="100000"/>
              <a:buChar char="•"/>
            </a:pPr>
            <a:r>
              <a:rPr i="1" lang="es-ES"/>
              <a:t>Technology</a:t>
            </a:r>
            <a:r>
              <a:rPr lang="es-ES"/>
              <a:t> en </a:t>
            </a:r>
            <a:r>
              <a:rPr i="1" lang="es-ES"/>
              <a:t>East</a:t>
            </a:r>
            <a:r>
              <a:rPr lang="es-ES"/>
              <a:t> y </a:t>
            </a:r>
            <a:r>
              <a:rPr i="1" lang="es-ES"/>
              <a:t>West</a:t>
            </a:r>
            <a:r>
              <a:rPr lang="es-ES"/>
              <a:t> muestra el desempeño más destacado.</a:t>
            </a:r>
            <a:endParaRPr/>
          </a:p>
          <a:p>
            <a:pPr indent="-215265" lvl="0" marL="228600" rtl="0" algn="l">
              <a:lnSpc>
                <a:spcPct val="115000"/>
              </a:lnSpc>
              <a:spcBef>
                <a:spcPts val="1000"/>
              </a:spcBef>
              <a:spcAft>
                <a:spcPts val="0"/>
              </a:spcAft>
              <a:buClr>
                <a:schemeClr val="dk1"/>
              </a:buClr>
              <a:buSzPct val="100000"/>
              <a:buChar char="•"/>
            </a:pPr>
            <a:r>
              <a:rPr i="1" lang="es-ES"/>
              <a:t>South</a:t>
            </a:r>
            <a:r>
              <a:rPr lang="es-ES"/>
              <a:t> posee valores más bajos en casi todas las combinaciones.</a:t>
            </a:r>
            <a:endParaRPr/>
          </a:p>
          <a:p>
            <a:pPr indent="-215265" lvl="0" marL="228600" rtl="0" algn="l">
              <a:lnSpc>
                <a:spcPct val="115000"/>
              </a:lnSpc>
              <a:spcBef>
                <a:spcPts val="1000"/>
              </a:spcBef>
              <a:spcAft>
                <a:spcPts val="0"/>
              </a:spcAft>
              <a:buClr>
                <a:schemeClr val="dk1"/>
              </a:buClr>
              <a:buSzPct val="100000"/>
              <a:buChar char="•"/>
            </a:pPr>
            <a:r>
              <a:rPr lang="es-ES"/>
              <a:t>Resume patrones detectados previamente en una sola figura.</a:t>
            </a:r>
            <a:endParaRPr/>
          </a:p>
          <a:p>
            <a:pPr indent="0" lvl="0" marL="0" rtl="0" algn="l">
              <a:lnSpc>
                <a:spcPct val="115000"/>
              </a:lnSpc>
              <a:spcBef>
                <a:spcPts val="1000"/>
              </a:spcBef>
              <a:spcAft>
                <a:spcPts val="0"/>
              </a:spcAft>
              <a:buClr>
                <a:schemeClr val="dk1"/>
              </a:buClr>
              <a:buSzPct val="100000"/>
              <a:buNone/>
            </a:pPr>
            <a:r>
              <a:t/>
            </a:r>
            <a:endParaRPr/>
          </a:p>
          <a:p>
            <a:pPr indent="0" lvl="0" marL="0" rtl="0" algn="l">
              <a:lnSpc>
                <a:spcPct val="115000"/>
              </a:lnSpc>
              <a:spcBef>
                <a:spcPts val="1000"/>
              </a:spcBef>
              <a:spcAft>
                <a:spcPts val="0"/>
              </a:spcAft>
              <a:buClr>
                <a:schemeClr val="dk1"/>
              </a:buClr>
              <a:buSzPct val="100000"/>
              <a:buNone/>
            </a:pPr>
            <a:r>
              <a:t/>
            </a:r>
            <a:endParaRPr b="0"/>
          </a:p>
          <a:p>
            <a:pPr indent="0" lvl="0" marL="0" rtl="0" algn="l">
              <a:lnSpc>
                <a:spcPct val="115000"/>
              </a:lnSpc>
              <a:spcBef>
                <a:spcPts val="1000"/>
              </a:spcBef>
              <a:spcAft>
                <a:spcPts val="0"/>
              </a:spcAft>
              <a:buClr>
                <a:schemeClr val="dk1"/>
              </a:buClr>
              <a:buSzPct val="100000"/>
              <a:buNone/>
            </a:pPr>
            <a:r>
              <a:rPr lang="es-ES"/>
              <a:t>Este gráfico sirve como cierre visual de la etapa.</a:t>
            </a:r>
            <a:endParaRPr b="0"/>
          </a:p>
        </p:txBody>
      </p:sp>
      <p:sp>
        <p:nvSpPr>
          <p:cNvPr id="299" name="Google Shape;299;p32"/>
          <p:cNvSpPr txBox="1"/>
          <p:nvPr/>
        </p:nvSpPr>
        <p:spPr>
          <a:xfrm>
            <a:off x="5459730" y="5845767"/>
            <a:ext cx="609447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s-ES" sz="1400">
                <a:solidFill>
                  <a:srgbClr val="000000"/>
                </a:solidFill>
                <a:latin typeface="Arial"/>
                <a:ea typeface="Arial"/>
                <a:cs typeface="Arial"/>
                <a:sym typeface="Arial"/>
              </a:rPr>
              <a:t>Figura 13. Heatmap de Sales por Región y Categoría. Integra múltiples dimensiones en una vista comparativa.</a:t>
            </a:r>
            <a:endParaRPr sz="1400">
              <a:solidFill>
                <a:schemeClr val="dk1"/>
              </a:solidFill>
              <a:latin typeface="Arial"/>
              <a:ea typeface="Arial"/>
              <a:cs typeface="Arial"/>
              <a:sym typeface="Arial"/>
            </a:endParaRPr>
          </a:p>
        </p:txBody>
      </p:sp>
      <p:pic>
        <p:nvPicPr>
          <p:cNvPr id="300" name="Google Shape;300;p32"/>
          <p:cNvPicPr preferRelativeResize="0"/>
          <p:nvPr/>
        </p:nvPicPr>
        <p:blipFill rotWithShape="1">
          <a:blip r:embed="rId3">
            <a:alphaModFix/>
          </a:blip>
          <a:srcRect b="0" l="0" r="0" t="0"/>
          <a:stretch/>
        </p:blipFill>
        <p:spPr>
          <a:xfrm>
            <a:off x="4745928" y="1408176"/>
            <a:ext cx="7241856" cy="452137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3"/>
          <p:cNvSpPr txBox="1"/>
          <p:nvPr>
            <p:ph idx="1" type="body"/>
          </p:nvPr>
        </p:nvSpPr>
        <p:spPr>
          <a:xfrm>
            <a:off x="838200" y="466344"/>
            <a:ext cx="10515600" cy="5710619"/>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70000"/>
              </a:lnSpc>
              <a:spcBef>
                <a:spcPts val="0"/>
              </a:spcBef>
              <a:spcAft>
                <a:spcPts val="0"/>
              </a:spcAft>
              <a:buClr>
                <a:schemeClr val="dk1"/>
              </a:buClr>
              <a:buSzPct val="100000"/>
              <a:buNone/>
            </a:pPr>
            <a:r>
              <a:rPr lang="es-ES" sz="3600" cap="small"/>
              <a:t>Conclusión de la Etapa 4</a:t>
            </a:r>
            <a:endParaRPr/>
          </a:p>
          <a:p>
            <a:pPr indent="0" lvl="0" marL="0" rtl="0" algn="l">
              <a:lnSpc>
                <a:spcPct val="90000"/>
              </a:lnSpc>
              <a:spcBef>
                <a:spcPts val="1000"/>
              </a:spcBef>
              <a:spcAft>
                <a:spcPts val="0"/>
              </a:spcAft>
              <a:buClr>
                <a:schemeClr val="dk1"/>
              </a:buClr>
              <a:buSzPct val="100000"/>
              <a:buNone/>
            </a:pPr>
            <a:r>
              <a:t/>
            </a:r>
            <a:endParaRPr b="1"/>
          </a:p>
          <a:p>
            <a:pPr indent="0" lvl="0" marL="0" rtl="0" algn="l">
              <a:lnSpc>
                <a:spcPct val="115000"/>
              </a:lnSpc>
              <a:spcBef>
                <a:spcPts val="1000"/>
              </a:spcBef>
              <a:spcAft>
                <a:spcPts val="0"/>
              </a:spcAft>
              <a:buClr>
                <a:schemeClr val="dk1"/>
              </a:buClr>
              <a:buSzPct val="100000"/>
              <a:buNone/>
            </a:pPr>
            <a:r>
              <a:rPr lang="es-ES"/>
              <a:t>La etapa de visualizaciones aportó una perspectiva narrativa completa del negocio, permitiendo:</a:t>
            </a:r>
            <a:endParaRPr b="0"/>
          </a:p>
          <a:p>
            <a:pPr indent="-228600" lvl="0" marL="228600" rtl="0" algn="l">
              <a:lnSpc>
                <a:spcPct val="115000"/>
              </a:lnSpc>
              <a:spcBef>
                <a:spcPts val="1000"/>
              </a:spcBef>
              <a:spcAft>
                <a:spcPts val="0"/>
              </a:spcAft>
              <a:buClr>
                <a:schemeClr val="dk1"/>
              </a:buClr>
              <a:buSzPct val="100000"/>
              <a:buChar char="•"/>
            </a:pPr>
            <a:r>
              <a:rPr lang="es-ES"/>
              <a:t>Comprender estacionalidad.</a:t>
            </a:r>
            <a:endParaRPr/>
          </a:p>
          <a:p>
            <a:pPr indent="-228600" lvl="0" marL="228600" rtl="0" algn="l">
              <a:lnSpc>
                <a:spcPct val="115000"/>
              </a:lnSpc>
              <a:spcBef>
                <a:spcPts val="1000"/>
              </a:spcBef>
              <a:spcAft>
                <a:spcPts val="0"/>
              </a:spcAft>
              <a:buClr>
                <a:schemeClr val="dk1"/>
              </a:buClr>
              <a:buSzPct val="100000"/>
              <a:buChar char="•"/>
            </a:pPr>
            <a:r>
              <a:rPr lang="es-ES"/>
              <a:t>Identificar categorías rentables y subcategorías altamente rentables.</a:t>
            </a:r>
            <a:endParaRPr/>
          </a:p>
          <a:p>
            <a:pPr indent="-228600" lvl="0" marL="228600" rtl="0" algn="l">
              <a:lnSpc>
                <a:spcPct val="115000"/>
              </a:lnSpc>
              <a:spcBef>
                <a:spcPts val="1000"/>
              </a:spcBef>
              <a:spcAft>
                <a:spcPts val="0"/>
              </a:spcAft>
              <a:buClr>
                <a:schemeClr val="dk1"/>
              </a:buClr>
              <a:buSzPct val="100000"/>
              <a:buChar char="•"/>
            </a:pPr>
            <a:r>
              <a:rPr lang="es-ES"/>
              <a:t>Confirmar el impacto negativo de los descuentos.</a:t>
            </a:r>
            <a:endParaRPr/>
          </a:p>
          <a:p>
            <a:pPr indent="-228600" lvl="0" marL="228600" rtl="0" algn="l">
              <a:lnSpc>
                <a:spcPct val="115000"/>
              </a:lnSpc>
              <a:spcBef>
                <a:spcPts val="1000"/>
              </a:spcBef>
              <a:spcAft>
                <a:spcPts val="0"/>
              </a:spcAft>
              <a:buClr>
                <a:schemeClr val="dk1"/>
              </a:buClr>
              <a:buSzPct val="100000"/>
              <a:buChar char="•"/>
            </a:pPr>
            <a:r>
              <a:rPr lang="es-ES"/>
              <a:t>Comparar desempeño entre regiones y segmentos.</a:t>
            </a:r>
            <a:endParaRPr/>
          </a:p>
          <a:p>
            <a:pPr indent="-228600" lvl="0" marL="228600" rtl="0" algn="l">
              <a:lnSpc>
                <a:spcPct val="115000"/>
              </a:lnSpc>
              <a:spcBef>
                <a:spcPts val="1000"/>
              </a:spcBef>
              <a:spcAft>
                <a:spcPts val="0"/>
              </a:spcAft>
              <a:buClr>
                <a:schemeClr val="dk1"/>
              </a:buClr>
              <a:buSzPct val="100000"/>
              <a:buChar char="•"/>
            </a:pPr>
            <a:r>
              <a:rPr lang="es-ES"/>
              <a:t>Conectar visualmente con los hallazgos del modelado estadístico.</a:t>
            </a:r>
            <a:br>
              <a:rPr b="0" lang="es-ES"/>
            </a:br>
            <a:br>
              <a:rPr b="0" lang="es-ES"/>
            </a:br>
            <a:br>
              <a:rPr b="0" lang="es-ES"/>
            </a:b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4"/>
          <p:cNvSpPr txBox="1"/>
          <p:nvPr>
            <p:ph idx="1" type="body"/>
          </p:nvPr>
        </p:nvSpPr>
        <p:spPr>
          <a:xfrm>
            <a:off x="838200" y="466344"/>
            <a:ext cx="10515600" cy="6016752"/>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110000"/>
              </a:lnSpc>
              <a:spcBef>
                <a:spcPts val="0"/>
              </a:spcBef>
              <a:spcAft>
                <a:spcPts val="0"/>
              </a:spcAft>
              <a:buClr>
                <a:srgbClr val="595959"/>
              </a:buClr>
              <a:buSzPct val="100000"/>
              <a:buNone/>
            </a:pPr>
            <a:r>
              <a:rPr b="1" lang="es-ES" sz="6300">
                <a:solidFill>
                  <a:srgbClr val="595959"/>
                </a:solidFill>
                <a:latin typeface="Times New Roman"/>
                <a:ea typeface="Times New Roman"/>
                <a:cs typeface="Times New Roman"/>
                <a:sym typeface="Times New Roman"/>
              </a:rPr>
              <a:t>Conclusión General</a:t>
            </a:r>
            <a:endParaRPr/>
          </a:p>
          <a:p>
            <a:pPr indent="0" lvl="0" marL="0" rtl="0" algn="l">
              <a:lnSpc>
                <a:spcPct val="115000"/>
              </a:lnSpc>
              <a:spcBef>
                <a:spcPts val="1000"/>
              </a:spcBef>
              <a:spcAft>
                <a:spcPts val="0"/>
              </a:spcAft>
              <a:buClr>
                <a:schemeClr val="dk1"/>
              </a:buClr>
              <a:buSzPct val="100000"/>
              <a:buNone/>
            </a:pPr>
            <a:r>
              <a:rPr lang="es-ES"/>
              <a:t>El desarrollo completo del Trabajo Práctico permitió recorrer de manera ordenada todas las etapas fundamentales de un análisis de datos aplicado al caso Superstore: limpieza, exploración, inferencia, modelado y visualización. A lo largo del proceso se logró transformar un dataset crudo en un análisis consistente, con conclusiones respaldadas tanto por evidencia estadística como por representaciones gráficas.</a:t>
            </a:r>
            <a:endParaRPr/>
          </a:p>
          <a:p>
            <a:pPr indent="0" lvl="0" marL="0" rtl="0" algn="l">
              <a:lnSpc>
                <a:spcPct val="115000"/>
              </a:lnSpc>
              <a:spcBef>
                <a:spcPts val="1000"/>
              </a:spcBef>
              <a:spcAft>
                <a:spcPts val="0"/>
              </a:spcAft>
              <a:buClr>
                <a:schemeClr val="dk1"/>
              </a:buClr>
              <a:buSzPct val="100000"/>
              <a:buNone/>
            </a:pPr>
            <a:r>
              <a:t/>
            </a:r>
            <a:endParaRPr b="0"/>
          </a:p>
          <a:p>
            <a:pPr indent="0" lvl="0" marL="0" rtl="0" algn="l">
              <a:lnSpc>
                <a:spcPct val="115000"/>
              </a:lnSpc>
              <a:spcBef>
                <a:spcPts val="1000"/>
              </a:spcBef>
              <a:spcAft>
                <a:spcPts val="0"/>
              </a:spcAft>
              <a:buClr>
                <a:schemeClr val="dk1"/>
              </a:buClr>
              <a:buSzPct val="100000"/>
              <a:buNone/>
            </a:pPr>
            <a:r>
              <a:rPr lang="es-ES"/>
              <a:t>Los principales aprendizajes y hallazgos del trabajo pueden resumirse en:</a:t>
            </a:r>
            <a:endParaRPr b="0"/>
          </a:p>
          <a:p>
            <a:pPr indent="0" lvl="0" marL="0" rtl="0" algn="l">
              <a:lnSpc>
                <a:spcPct val="115000"/>
              </a:lnSpc>
              <a:spcBef>
                <a:spcPts val="1000"/>
              </a:spcBef>
              <a:spcAft>
                <a:spcPts val="0"/>
              </a:spcAft>
              <a:buClr>
                <a:schemeClr val="dk1"/>
              </a:buClr>
              <a:buSzPct val="100000"/>
              <a:buNone/>
            </a:pPr>
            <a:r>
              <a:rPr b="1" lang="es-ES"/>
              <a:t>1. Dominio del proceso analítico completo</a:t>
            </a:r>
            <a:endParaRPr b="0"/>
          </a:p>
          <a:p>
            <a:pPr indent="0" lvl="0" marL="0" rtl="0" algn="l">
              <a:lnSpc>
                <a:spcPct val="115000"/>
              </a:lnSpc>
              <a:spcBef>
                <a:spcPts val="1000"/>
              </a:spcBef>
              <a:spcAft>
                <a:spcPts val="0"/>
              </a:spcAft>
              <a:buClr>
                <a:schemeClr val="dk1"/>
              </a:buClr>
              <a:buSzPct val="100000"/>
              <a:buNone/>
            </a:pPr>
            <a:r>
              <a:rPr lang="es-ES"/>
              <a:t>Se aplicaron buenas prácticas de ciencia de datos: tipado correcto, creación de variables, tratamiento de outliers, análisis exploratorio, contrastes de hipótesis, regresión múltiple y storytelling visual.</a:t>
            </a:r>
            <a:endParaRPr b="0"/>
          </a:p>
          <a:p>
            <a:pPr indent="0" lvl="0" marL="0" rtl="0" algn="l">
              <a:lnSpc>
                <a:spcPct val="115000"/>
              </a:lnSpc>
              <a:spcBef>
                <a:spcPts val="1000"/>
              </a:spcBef>
              <a:spcAft>
                <a:spcPts val="0"/>
              </a:spcAft>
              <a:buClr>
                <a:schemeClr val="dk1"/>
              </a:buClr>
              <a:buSzPct val="100000"/>
              <a:buNone/>
            </a:pPr>
            <a:r>
              <a:t/>
            </a:r>
            <a:endParaRPr b="0"/>
          </a:p>
          <a:p>
            <a:pPr indent="0" lvl="0" marL="0" rtl="0" algn="l">
              <a:lnSpc>
                <a:spcPct val="115000"/>
              </a:lnSpc>
              <a:spcBef>
                <a:spcPts val="1000"/>
              </a:spcBef>
              <a:spcAft>
                <a:spcPts val="0"/>
              </a:spcAft>
              <a:buClr>
                <a:schemeClr val="dk1"/>
              </a:buClr>
              <a:buSzPct val="100000"/>
              <a:buNone/>
            </a:pPr>
            <a:r>
              <a:rPr b="1" lang="es-ES"/>
              <a:t>2. Comprensión del comportamiento del negocio</a:t>
            </a:r>
            <a:endParaRPr b="0"/>
          </a:p>
          <a:p>
            <a:pPr indent="0" lvl="0" marL="0" rtl="0" algn="l">
              <a:lnSpc>
                <a:spcPct val="115000"/>
              </a:lnSpc>
              <a:spcBef>
                <a:spcPts val="1000"/>
              </a:spcBef>
              <a:spcAft>
                <a:spcPts val="0"/>
              </a:spcAft>
              <a:buClr>
                <a:schemeClr val="dk1"/>
              </a:buClr>
              <a:buSzPct val="100000"/>
              <a:buNone/>
            </a:pPr>
            <a:r>
              <a:rPr lang="es-ES"/>
              <a:t>El análisis permitió identificar patrones claros en la empresa:</a:t>
            </a:r>
            <a:endParaRPr b="0"/>
          </a:p>
          <a:p>
            <a:pPr indent="-215265" lvl="0" marL="228600" rtl="0" algn="l">
              <a:lnSpc>
                <a:spcPct val="115000"/>
              </a:lnSpc>
              <a:spcBef>
                <a:spcPts val="1000"/>
              </a:spcBef>
              <a:spcAft>
                <a:spcPts val="0"/>
              </a:spcAft>
              <a:buClr>
                <a:schemeClr val="dk1"/>
              </a:buClr>
              <a:buSzPct val="100000"/>
              <a:buChar char="•"/>
            </a:pPr>
            <a:r>
              <a:rPr i="1" lang="es-ES"/>
              <a:t>Sales</a:t>
            </a:r>
            <a:r>
              <a:rPr lang="es-ES"/>
              <a:t> y </a:t>
            </a:r>
            <a:r>
              <a:rPr i="1" lang="es-ES"/>
              <a:t>Profit</a:t>
            </a:r>
            <a:r>
              <a:rPr lang="es-ES"/>
              <a:t> muestran estacionalidad definida.</a:t>
            </a:r>
            <a:endParaRPr/>
          </a:p>
          <a:p>
            <a:pPr indent="-215265" lvl="0" marL="228600" rtl="0" algn="l">
              <a:lnSpc>
                <a:spcPct val="115000"/>
              </a:lnSpc>
              <a:spcBef>
                <a:spcPts val="1000"/>
              </a:spcBef>
              <a:spcAft>
                <a:spcPts val="0"/>
              </a:spcAft>
              <a:buClr>
                <a:schemeClr val="dk1"/>
              </a:buClr>
              <a:buSzPct val="100000"/>
              <a:buChar char="•"/>
            </a:pPr>
            <a:r>
              <a:rPr i="1" lang="es-ES"/>
              <a:t>Discount</a:t>
            </a:r>
            <a:r>
              <a:rPr lang="es-ES"/>
              <a:t> es la variable que más afecta negativamente a la rentabilidad.</a:t>
            </a:r>
            <a:endParaRPr/>
          </a:p>
          <a:p>
            <a:pPr indent="-215265" lvl="0" marL="228600" rtl="0" algn="l">
              <a:lnSpc>
                <a:spcPct val="115000"/>
              </a:lnSpc>
              <a:spcBef>
                <a:spcPts val="1000"/>
              </a:spcBef>
              <a:spcAft>
                <a:spcPts val="0"/>
              </a:spcAft>
              <a:buClr>
                <a:schemeClr val="dk1"/>
              </a:buClr>
              <a:buSzPct val="100000"/>
              <a:buChar char="•"/>
            </a:pPr>
            <a:r>
              <a:rPr i="1" lang="es-ES"/>
              <a:t>Technology</a:t>
            </a:r>
            <a:r>
              <a:rPr lang="es-ES"/>
              <a:t> y </a:t>
            </a:r>
            <a:r>
              <a:rPr i="1" lang="es-ES"/>
              <a:t>Office Supplies</a:t>
            </a:r>
            <a:r>
              <a:rPr lang="es-ES"/>
              <a:t> se consolidan como categorías altamente rentables.</a:t>
            </a:r>
            <a:endParaRPr/>
          </a:p>
          <a:p>
            <a:pPr indent="-215265" lvl="0" marL="228600" rtl="0" algn="l">
              <a:lnSpc>
                <a:spcPct val="115000"/>
              </a:lnSpc>
              <a:spcBef>
                <a:spcPts val="1000"/>
              </a:spcBef>
              <a:spcAft>
                <a:spcPts val="0"/>
              </a:spcAft>
              <a:buClr>
                <a:schemeClr val="dk1"/>
              </a:buClr>
              <a:buSzPct val="100000"/>
              <a:buChar char="•"/>
            </a:pPr>
            <a:r>
              <a:rPr lang="es-ES"/>
              <a:t>Las regiones </a:t>
            </a:r>
            <a:r>
              <a:rPr i="1" lang="es-ES"/>
              <a:t>West</a:t>
            </a:r>
            <a:r>
              <a:rPr lang="es-ES"/>
              <a:t> y </a:t>
            </a:r>
            <a:r>
              <a:rPr i="1" lang="es-ES"/>
              <a:t>East</a:t>
            </a:r>
            <a:r>
              <a:rPr lang="es-ES"/>
              <a:t> concentran mayor volumen de negocio.</a:t>
            </a:r>
            <a:endParaRPr/>
          </a:p>
          <a:p>
            <a:pPr indent="-215265" lvl="0" marL="228600" rtl="0" algn="l">
              <a:lnSpc>
                <a:spcPct val="115000"/>
              </a:lnSpc>
              <a:spcBef>
                <a:spcPts val="1000"/>
              </a:spcBef>
              <a:spcAft>
                <a:spcPts val="0"/>
              </a:spcAft>
              <a:buClr>
                <a:schemeClr val="dk1"/>
              </a:buClr>
              <a:buSzPct val="100000"/>
              <a:buChar char="•"/>
            </a:pPr>
            <a:r>
              <a:rPr lang="es-ES"/>
              <a:t>El segmento </a:t>
            </a:r>
            <a:r>
              <a:rPr i="1" lang="es-ES"/>
              <a:t>Home Office</a:t>
            </a:r>
            <a:r>
              <a:rPr lang="es-ES"/>
              <a:t> obtiene el mayor profit promedio.</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5"/>
          <p:cNvSpPr txBox="1"/>
          <p:nvPr>
            <p:ph idx="1" type="body"/>
          </p:nvPr>
        </p:nvSpPr>
        <p:spPr>
          <a:xfrm>
            <a:off x="390144" y="301752"/>
            <a:ext cx="11411712" cy="6382512"/>
          </a:xfrm>
          <a:prstGeom prst="rect">
            <a:avLst/>
          </a:prstGeom>
          <a:noFill/>
          <a:ln>
            <a:noFill/>
          </a:ln>
        </p:spPr>
        <p:txBody>
          <a:bodyPr anchorCtr="0" anchor="t" bIns="45700" lIns="91425" spcFirstLastPara="1" rIns="91425" wrap="square" tIns="45700">
            <a:normAutofit fontScale="47500" lnSpcReduction="10000"/>
          </a:bodyPr>
          <a:lstStyle/>
          <a:p>
            <a:pPr indent="0" lvl="0" marL="0" rtl="0" algn="l">
              <a:lnSpc>
                <a:spcPct val="115000"/>
              </a:lnSpc>
              <a:spcBef>
                <a:spcPts val="0"/>
              </a:spcBef>
              <a:spcAft>
                <a:spcPts val="0"/>
              </a:spcAft>
              <a:buClr>
                <a:schemeClr val="dk1"/>
              </a:buClr>
              <a:buSzPct val="100000"/>
              <a:buNone/>
            </a:pPr>
            <a:r>
              <a:rPr b="1" lang="es-ES"/>
              <a:t>3. Validación mediante estadística inferencial</a:t>
            </a:r>
            <a:endParaRPr b="0"/>
          </a:p>
          <a:p>
            <a:pPr indent="0" lvl="0" marL="0" rtl="0" algn="l">
              <a:lnSpc>
                <a:spcPct val="115000"/>
              </a:lnSpc>
              <a:spcBef>
                <a:spcPts val="1000"/>
              </a:spcBef>
              <a:spcAft>
                <a:spcPts val="0"/>
              </a:spcAft>
              <a:buClr>
                <a:schemeClr val="dk1"/>
              </a:buClr>
              <a:buSzPct val="100000"/>
              <a:buNone/>
            </a:pPr>
            <a:r>
              <a:rPr lang="es-ES"/>
              <a:t>El ANOVA evidenció que el segmento de cliente </a:t>
            </a:r>
            <a:r>
              <a:rPr b="1" lang="es-ES"/>
              <a:t>no explica diferencias significativas</a:t>
            </a:r>
            <a:r>
              <a:rPr lang="es-ES"/>
              <a:t> en Profit.</a:t>
            </a:r>
            <a:br>
              <a:rPr lang="es-ES"/>
            </a:br>
            <a:r>
              <a:rPr lang="es-ES"/>
              <a:t>El modelo de regresión múltiple mejorado explicó cerca del </a:t>
            </a:r>
            <a:r>
              <a:rPr b="1" lang="es-ES"/>
              <a:t>34% de la variabilidad</a:t>
            </a:r>
            <a:r>
              <a:rPr lang="es-ES"/>
              <a:t>, resultado apropiado para un dataset retail altamente disperso.</a:t>
            </a:r>
            <a:endParaRPr b="0"/>
          </a:p>
          <a:p>
            <a:pPr indent="0" lvl="0" marL="0" rtl="0" algn="l">
              <a:lnSpc>
                <a:spcPct val="115000"/>
              </a:lnSpc>
              <a:spcBef>
                <a:spcPts val="1000"/>
              </a:spcBef>
              <a:spcAft>
                <a:spcPts val="0"/>
              </a:spcAft>
              <a:buClr>
                <a:schemeClr val="dk1"/>
              </a:buClr>
              <a:buSzPct val="100000"/>
              <a:buNone/>
            </a:pPr>
            <a:r>
              <a:rPr b="1" lang="es-ES"/>
              <a:t>4. Visualizaciones claras y orientadas al storytelling</a:t>
            </a:r>
            <a:endParaRPr b="0"/>
          </a:p>
          <a:p>
            <a:pPr indent="0" lvl="0" marL="0" rtl="0" algn="l">
              <a:lnSpc>
                <a:spcPct val="115000"/>
              </a:lnSpc>
              <a:spcBef>
                <a:spcPts val="1000"/>
              </a:spcBef>
              <a:spcAft>
                <a:spcPts val="0"/>
              </a:spcAft>
              <a:buClr>
                <a:schemeClr val="dk1"/>
              </a:buClr>
              <a:buSzPct val="100000"/>
              <a:buNone/>
            </a:pPr>
            <a:r>
              <a:rPr lang="es-ES"/>
              <a:t>Se generó un conjunto completo de gráficos que permiten comunicar los resultados de manera accesible incluso para audiencias no técnicas.</a:t>
            </a:r>
            <a:endParaRPr b="0"/>
          </a:p>
          <a:p>
            <a:pPr indent="0" lvl="0" marL="0" rtl="0" algn="l">
              <a:lnSpc>
                <a:spcPct val="115000"/>
              </a:lnSpc>
              <a:spcBef>
                <a:spcPts val="1000"/>
              </a:spcBef>
              <a:spcAft>
                <a:spcPts val="0"/>
              </a:spcAft>
              <a:buClr>
                <a:schemeClr val="dk1"/>
              </a:buClr>
              <a:buSzPct val="100000"/>
              <a:buNone/>
            </a:pPr>
            <a:r>
              <a:rPr b="1" lang="es-ES"/>
              <a:t>5. Validación de las hipótesis</a:t>
            </a:r>
            <a:endParaRPr b="0"/>
          </a:p>
          <a:p>
            <a:pPr indent="0" lvl="0" marL="0" rtl="0" algn="l">
              <a:lnSpc>
                <a:spcPct val="115000"/>
              </a:lnSpc>
              <a:spcBef>
                <a:spcPts val="1000"/>
              </a:spcBef>
              <a:spcAft>
                <a:spcPts val="0"/>
              </a:spcAft>
              <a:buClr>
                <a:schemeClr val="dk1"/>
              </a:buClr>
              <a:buSzPct val="100000"/>
              <a:buNone/>
            </a:pPr>
            <a:r>
              <a:rPr b="1" lang="es-ES"/>
              <a:t>H1 — Confirmada.</a:t>
            </a:r>
            <a:br>
              <a:rPr lang="es-ES"/>
            </a:br>
            <a:r>
              <a:rPr lang="es-ES"/>
              <a:t>El análisis inferencial y los gráficos editorializados muestran que el </a:t>
            </a:r>
            <a:r>
              <a:rPr i="1" lang="es-ES"/>
              <a:t>discount</a:t>
            </a:r>
            <a:r>
              <a:rPr lang="es-ES"/>
              <a:t> tiene un efecto negativo y estadísticamente significativo sobre el </a:t>
            </a:r>
            <a:r>
              <a:rPr i="1" lang="es-ES"/>
              <a:t>profit</a:t>
            </a:r>
            <a:r>
              <a:rPr lang="es-ES"/>
              <a:t>. Tanto el modelo de regresión como la tendencia observada en la Figura correspondiente confirman que mayores niveles de descuento reducen sistemáticamente la rentabilidad.</a:t>
            </a:r>
            <a:endParaRPr b="0"/>
          </a:p>
          <a:p>
            <a:pPr indent="0" lvl="0" marL="0" rtl="0" algn="l">
              <a:lnSpc>
                <a:spcPct val="115000"/>
              </a:lnSpc>
              <a:spcBef>
                <a:spcPts val="1000"/>
              </a:spcBef>
              <a:spcAft>
                <a:spcPts val="0"/>
              </a:spcAft>
              <a:buClr>
                <a:schemeClr val="dk1"/>
              </a:buClr>
              <a:buSzPct val="100000"/>
              <a:buNone/>
            </a:pPr>
            <a:r>
              <a:rPr b="1" lang="es-ES"/>
              <a:t>H2 — Refutada.</a:t>
            </a:r>
            <a:br>
              <a:rPr lang="es-ES"/>
            </a:br>
            <a:r>
              <a:rPr lang="es-ES"/>
              <a:t>El ANOVA mostró un valor p = 0.407, indicando que no existen diferencias significativas en el </a:t>
            </a:r>
            <a:r>
              <a:rPr i="1" lang="es-ES"/>
              <a:t>profit</a:t>
            </a:r>
            <a:r>
              <a:rPr lang="es-ES"/>
              <a:t> promedio entre los segmentos de clientes (</a:t>
            </a:r>
            <a:r>
              <a:rPr i="1" lang="es-ES"/>
              <a:t>Consumer</a:t>
            </a:r>
            <a:r>
              <a:rPr lang="es-ES"/>
              <a:t>, </a:t>
            </a:r>
            <a:r>
              <a:rPr i="1" lang="es-ES"/>
              <a:t>Corporate</a:t>
            </a:r>
            <a:r>
              <a:rPr lang="es-ES"/>
              <a:t> y </a:t>
            </a:r>
            <a:r>
              <a:rPr i="1" lang="es-ES"/>
              <a:t>Home Office</a:t>
            </a:r>
            <a:r>
              <a:rPr lang="es-ES"/>
              <a:t>). Tanto el análisis estadístico como el post-hoc de Tukey refuerzan esta conclusión.</a:t>
            </a:r>
            <a:endParaRPr b="0"/>
          </a:p>
          <a:p>
            <a:pPr indent="0" lvl="0" marL="0" rtl="0" algn="l">
              <a:lnSpc>
                <a:spcPct val="115000"/>
              </a:lnSpc>
              <a:spcBef>
                <a:spcPts val="1000"/>
              </a:spcBef>
              <a:spcAft>
                <a:spcPts val="0"/>
              </a:spcAft>
              <a:buClr>
                <a:schemeClr val="dk1"/>
              </a:buClr>
              <a:buSzPct val="100000"/>
              <a:buNone/>
            </a:pPr>
            <a:r>
              <a:rPr lang="es-ES"/>
              <a:t>En síntesis: los descuentos sí afectan de manera importante la rentabilidad (H1 confirmada), pero el segmento del cliente no explica diferencias en los niveles de profit (H2 refutada).</a:t>
            </a:r>
            <a:endParaRPr b="0"/>
          </a:p>
          <a:p>
            <a:pPr indent="0" lvl="0" marL="0" rtl="0" algn="l">
              <a:lnSpc>
                <a:spcPct val="115000"/>
              </a:lnSpc>
              <a:spcBef>
                <a:spcPts val="1000"/>
              </a:spcBef>
              <a:spcAft>
                <a:spcPts val="0"/>
              </a:spcAft>
              <a:buClr>
                <a:schemeClr val="dk1"/>
              </a:buClr>
              <a:buSzPct val="100000"/>
              <a:buNone/>
            </a:pPr>
            <a:r>
              <a:rPr b="1" lang="es-ES"/>
              <a:t>6. Producto final sólido y reproducible</a:t>
            </a:r>
            <a:endParaRPr b="0"/>
          </a:p>
          <a:p>
            <a:pPr indent="0" lvl="0" marL="0" rtl="0" algn="l">
              <a:lnSpc>
                <a:spcPct val="115000"/>
              </a:lnSpc>
              <a:spcBef>
                <a:spcPts val="1000"/>
              </a:spcBef>
              <a:spcAft>
                <a:spcPts val="0"/>
              </a:spcAft>
              <a:buClr>
                <a:schemeClr val="dk1"/>
              </a:buClr>
              <a:buSzPct val="100000"/>
              <a:buNone/>
            </a:pPr>
            <a:r>
              <a:rPr lang="es-ES"/>
              <a:t>Todo el trabajo quedó organizado en carpetas, scripts ejecutables y visualizaciones sistemáticamente guardadas, lo que asegura transparencia y reproducibilidad del análisis.</a:t>
            </a:r>
            <a:endParaRPr b="0"/>
          </a:p>
          <a:p>
            <a:pPr indent="0" lvl="0" marL="0" rtl="0" algn="l">
              <a:lnSpc>
                <a:spcPct val="115000"/>
              </a:lnSpc>
              <a:spcBef>
                <a:spcPts val="1000"/>
              </a:spcBef>
              <a:spcAft>
                <a:spcPts val="0"/>
              </a:spcAft>
              <a:buClr>
                <a:schemeClr val="dk1"/>
              </a:buClr>
              <a:buSzPct val="100000"/>
              <a:buNone/>
            </a:pPr>
            <a:r>
              <a:rPr lang="es-ES"/>
              <a:t>El trabajo integra correctamente todos los componentes solicitados: procesamiento de datos, análisis exploratorio, pruebas inferenciales, modelado estadístico, interpretación de resultados y visualización orientada al negocio.</a:t>
            </a:r>
            <a:br>
              <a:rPr lang="es-ES"/>
            </a:br>
            <a:r>
              <a:rPr lang="es-ES"/>
              <a:t>El informe refleja un razonamiento coherente, conclusiones alineadas con la evidencia y un uso adecuado de herramientas estadísticas y gráficas.</a:t>
            </a:r>
            <a:endParaRPr b="0"/>
          </a:p>
          <a:p>
            <a:pPr indent="0" lvl="0" marL="0" rtl="0" algn="l">
              <a:lnSpc>
                <a:spcPct val="115000"/>
              </a:lnSpc>
              <a:spcBef>
                <a:spcPts val="1000"/>
              </a:spcBef>
              <a:spcAft>
                <a:spcPts val="0"/>
              </a:spcAft>
              <a:buClr>
                <a:schemeClr val="dk1"/>
              </a:buClr>
              <a:buSzPct val="100000"/>
              <a:buNone/>
            </a:pPr>
            <a:r>
              <a:rPr lang="es-ES"/>
              <a:t>En conjunto, los resultados permiten comprender de forma completa la dinámica del negocio y constituyen una base sólida para futuras decisiones comerciales.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2025-11-22T03:01:15Z</dcterms:created>
  <dc:creator>Sebastián Edgardo Villegas</dc:creator>
</cp:coreProperties>
</file>